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57" r:id="rId4"/>
    <p:sldId id="259" r:id="rId5"/>
    <p:sldId id="260" r:id="rId6"/>
    <p:sldId id="262" r:id="rId7"/>
    <p:sldId id="261" r:id="rId8"/>
    <p:sldId id="263" r:id="rId9"/>
    <p:sldId id="264" r:id="rId10"/>
    <p:sldId id="265" r:id="rId11"/>
    <p:sldId id="266" r:id="rId12"/>
    <p:sldId id="267" r:id="rId13"/>
    <p:sldId id="268" r:id="rId14"/>
    <p:sldId id="270" r:id="rId15"/>
    <p:sldId id="277"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3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1F18C-A425-46E8-B5A7-08138BF5FD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1745DF5-57CE-466E-88E6-8F37270DF1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4C8285A-7897-4D70-8676-FC625CB030CA}"/>
              </a:ext>
            </a:extLst>
          </p:cNvPr>
          <p:cNvSpPr>
            <a:spLocks noGrp="1"/>
          </p:cNvSpPr>
          <p:nvPr>
            <p:ph type="dt" sz="half" idx="10"/>
          </p:nvPr>
        </p:nvSpPr>
        <p:spPr/>
        <p:txBody>
          <a:bodyPr/>
          <a:lstStyle/>
          <a:p>
            <a:fld id="{E5E083C1-B79F-4157-8E2F-93472A9C9665}" type="datetimeFigureOut">
              <a:rPr lang="en-IN" smtClean="0"/>
              <a:t>11-02-2026</a:t>
            </a:fld>
            <a:endParaRPr lang="en-IN"/>
          </a:p>
        </p:txBody>
      </p:sp>
      <p:sp>
        <p:nvSpPr>
          <p:cNvPr id="5" name="Footer Placeholder 4">
            <a:extLst>
              <a:ext uri="{FF2B5EF4-FFF2-40B4-BE49-F238E27FC236}">
                <a16:creationId xmlns:a16="http://schemas.microsoft.com/office/drawing/2014/main" id="{509FD2E8-4259-4B5C-A071-12ED05B4DE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247A7D-2BD7-4C70-A51E-75786D614098}"/>
              </a:ext>
            </a:extLst>
          </p:cNvPr>
          <p:cNvSpPr>
            <a:spLocks noGrp="1"/>
          </p:cNvSpPr>
          <p:nvPr>
            <p:ph type="sldNum" sz="quarter" idx="12"/>
          </p:nvPr>
        </p:nvSpPr>
        <p:spPr/>
        <p:txBody>
          <a:bodyPr/>
          <a:lstStyle/>
          <a:p>
            <a:fld id="{BB7FEF9A-C820-4304-A4F1-6D4AB01EE95E}" type="slidenum">
              <a:rPr lang="en-IN" smtClean="0"/>
              <a:t>‹#›</a:t>
            </a:fld>
            <a:endParaRPr lang="en-IN"/>
          </a:p>
        </p:txBody>
      </p:sp>
    </p:spTree>
    <p:extLst>
      <p:ext uri="{BB962C8B-B14F-4D97-AF65-F5344CB8AC3E}">
        <p14:creationId xmlns:p14="http://schemas.microsoft.com/office/powerpoint/2010/main" val="290069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326AB-EAFF-4A28-A966-C7F7C5F3B8E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849C7F6-362B-4B50-80B3-B76A138CA0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70FA34-9593-436D-9C7E-ADEB675B941B}"/>
              </a:ext>
            </a:extLst>
          </p:cNvPr>
          <p:cNvSpPr>
            <a:spLocks noGrp="1"/>
          </p:cNvSpPr>
          <p:nvPr>
            <p:ph type="dt" sz="half" idx="10"/>
          </p:nvPr>
        </p:nvSpPr>
        <p:spPr/>
        <p:txBody>
          <a:bodyPr/>
          <a:lstStyle/>
          <a:p>
            <a:fld id="{E5E083C1-B79F-4157-8E2F-93472A9C9665}" type="datetimeFigureOut">
              <a:rPr lang="en-IN" smtClean="0"/>
              <a:t>11-02-2026</a:t>
            </a:fld>
            <a:endParaRPr lang="en-IN"/>
          </a:p>
        </p:txBody>
      </p:sp>
      <p:sp>
        <p:nvSpPr>
          <p:cNvPr id="5" name="Footer Placeholder 4">
            <a:extLst>
              <a:ext uri="{FF2B5EF4-FFF2-40B4-BE49-F238E27FC236}">
                <a16:creationId xmlns:a16="http://schemas.microsoft.com/office/drawing/2014/main" id="{99CB162E-07A2-49A7-8217-2E09AA0295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357450-CE50-49C4-8E78-9B3C2D20053B}"/>
              </a:ext>
            </a:extLst>
          </p:cNvPr>
          <p:cNvSpPr>
            <a:spLocks noGrp="1"/>
          </p:cNvSpPr>
          <p:nvPr>
            <p:ph type="sldNum" sz="quarter" idx="12"/>
          </p:nvPr>
        </p:nvSpPr>
        <p:spPr/>
        <p:txBody>
          <a:bodyPr/>
          <a:lstStyle/>
          <a:p>
            <a:fld id="{BB7FEF9A-C820-4304-A4F1-6D4AB01EE95E}" type="slidenum">
              <a:rPr lang="en-IN" smtClean="0"/>
              <a:t>‹#›</a:t>
            </a:fld>
            <a:endParaRPr lang="en-IN"/>
          </a:p>
        </p:txBody>
      </p:sp>
    </p:spTree>
    <p:extLst>
      <p:ext uri="{BB962C8B-B14F-4D97-AF65-F5344CB8AC3E}">
        <p14:creationId xmlns:p14="http://schemas.microsoft.com/office/powerpoint/2010/main" val="1349909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2E99F-7EE7-42E0-9BAF-060D50DEC7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4BEB965-1834-41E4-823D-ABA789C2B5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AFA647-E3BA-4EC1-B0CC-11133452A100}"/>
              </a:ext>
            </a:extLst>
          </p:cNvPr>
          <p:cNvSpPr>
            <a:spLocks noGrp="1"/>
          </p:cNvSpPr>
          <p:nvPr>
            <p:ph type="dt" sz="half" idx="10"/>
          </p:nvPr>
        </p:nvSpPr>
        <p:spPr/>
        <p:txBody>
          <a:bodyPr/>
          <a:lstStyle/>
          <a:p>
            <a:fld id="{E5E083C1-B79F-4157-8E2F-93472A9C9665}" type="datetimeFigureOut">
              <a:rPr lang="en-IN" smtClean="0"/>
              <a:t>11-02-2026</a:t>
            </a:fld>
            <a:endParaRPr lang="en-IN"/>
          </a:p>
        </p:txBody>
      </p:sp>
      <p:sp>
        <p:nvSpPr>
          <p:cNvPr id="5" name="Footer Placeholder 4">
            <a:extLst>
              <a:ext uri="{FF2B5EF4-FFF2-40B4-BE49-F238E27FC236}">
                <a16:creationId xmlns:a16="http://schemas.microsoft.com/office/drawing/2014/main" id="{B8AD25D7-B7AA-4F45-8706-F89DF5B536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60BC82-49EF-4BAC-910D-42E9FAC25A93}"/>
              </a:ext>
            </a:extLst>
          </p:cNvPr>
          <p:cNvSpPr>
            <a:spLocks noGrp="1"/>
          </p:cNvSpPr>
          <p:nvPr>
            <p:ph type="sldNum" sz="quarter" idx="12"/>
          </p:nvPr>
        </p:nvSpPr>
        <p:spPr/>
        <p:txBody>
          <a:bodyPr/>
          <a:lstStyle/>
          <a:p>
            <a:fld id="{BB7FEF9A-C820-4304-A4F1-6D4AB01EE95E}" type="slidenum">
              <a:rPr lang="en-IN" smtClean="0"/>
              <a:t>‹#›</a:t>
            </a:fld>
            <a:endParaRPr lang="en-IN"/>
          </a:p>
        </p:txBody>
      </p:sp>
    </p:spTree>
    <p:extLst>
      <p:ext uri="{BB962C8B-B14F-4D97-AF65-F5344CB8AC3E}">
        <p14:creationId xmlns:p14="http://schemas.microsoft.com/office/powerpoint/2010/main" val="1458088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5DEA7-4A13-4D50-BA97-0E66A8F0A6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407C1E3-0450-4B52-99FA-AA962B7CE8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3BDD73A-3FB2-4506-BF59-BA5084A59B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4840CED-EC1B-4FED-BFA6-86BA64793AA4}"/>
              </a:ext>
            </a:extLst>
          </p:cNvPr>
          <p:cNvSpPr>
            <a:spLocks noGrp="1"/>
          </p:cNvSpPr>
          <p:nvPr>
            <p:ph type="dt" sz="half" idx="10"/>
          </p:nvPr>
        </p:nvSpPr>
        <p:spPr/>
        <p:txBody>
          <a:bodyPr/>
          <a:lstStyle/>
          <a:p>
            <a:fld id="{E5E083C1-B79F-4157-8E2F-93472A9C9665}" type="datetimeFigureOut">
              <a:rPr lang="en-IN" smtClean="0"/>
              <a:t>11-02-2026</a:t>
            </a:fld>
            <a:endParaRPr lang="en-IN"/>
          </a:p>
        </p:txBody>
      </p:sp>
      <p:sp>
        <p:nvSpPr>
          <p:cNvPr id="6" name="Footer Placeholder 5">
            <a:extLst>
              <a:ext uri="{FF2B5EF4-FFF2-40B4-BE49-F238E27FC236}">
                <a16:creationId xmlns:a16="http://schemas.microsoft.com/office/drawing/2014/main" id="{D019B100-75C5-4C0F-A122-7F6D9E50D0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BF27C14-BFF7-4BAB-A786-C09DA126033D}"/>
              </a:ext>
            </a:extLst>
          </p:cNvPr>
          <p:cNvSpPr>
            <a:spLocks noGrp="1"/>
          </p:cNvSpPr>
          <p:nvPr>
            <p:ph type="sldNum" sz="quarter" idx="12"/>
          </p:nvPr>
        </p:nvSpPr>
        <p:spPr/>
        <p:txBody>
          <a:bodyPr/>
          <a:lstStyle/>
          <a:p>
            <a:fld id="{BB7FEF9A-C820-4304-A4F1-6D4AB01EE95E}" type="slidenum">
              <a:rPr lang="en-IN" smtClean="0"/>
              <a:t>‹#›</a:t>
            </a:fld>
            <a:endParaRPr lang="en-IN"/>
          </a:p>
        </p:txBody>
      </p:sp>
    </p:spTree>
    <p:extLst>
      <p:ext uri="{BB962C8B-B14F-4D97-AF65-F5344CB8AC3E}">
        <p14:creationId xmlns:p14="http://schemas.microsoft.com/office/powerpoint/2010/main" val="289679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E0D68-5824-47A0-8FDC-BFE783BB0E6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58B6A9-EBF1-4926-B063-375CFEAEC0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9BA9E0-0459-426E-842C-9B71CD6382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5AD5C0C-C20F-4EDC-8D11-13646C643B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622BF1-A889-425C-8042-033AD6A170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FFF5B3A-A0AC-402A-8C85-E6D299BD720C}"/>
              </a:ext>
            </a:extLst>
          </p:cNvPr>
          <p:cNvSpPr>
            <a:spLocks noGrp="1"/>
          </p:cNvSpPr>
          <p:nvPr>
            <p:ph type="dt" sz="half" idx="10"/>
          </p:nvPr>
        </p:nvSpPr>
        <p:spPr/>
        <p:txBody>
          <a:bodyPr/>
          <a:lstStyle/>
          <a:p>
            <a:fld id="{E5E083C1-B79F-4157-8E2F-93472A9C9665}" type="datetimeFigureOut">
              <a:rPr lang="en-IN" smtClean="0"/>
              <a:t>11-02-2026</a:t>
            </a:fld>
            <a:endParaRPr lang="en-IN"/>
          </a:p>
        </p:txBody>
      </p:sp>
      <p:sp>
        <p:nvSpPr>
          <p:cNvPr id="8" name="Footer Placeholder 7">
            <a:extLst>
              <a:ext uri="{FF2B5EF4-FFF2-40B4-BE49-F238E27FC236}">
                <a16:creationId xmlns:a16="http://schemas.microsoft.com/office/drawing/2014/main" id="{A10A0287-5B7C-4102-A0A9-04F76C5AA6B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32F9DD3-4BAF-4FE2-974F-2397633FDB22}"/>
              </a:ext>
            </a:extLst>
          </p:cNvPr>
          <p:cNvSpPr>
            <a:spLocks noGrp="1"/>
          </p:cNvSpPr>
          <p:nvPr>
            <p:ph type="sldNum" sz="quarter" idx="12"/>
          </p:nvPr>
        </p:nvSpPr>
        <p:spPr/>
        <p:txBody>
          <a:bodyPr/>
          <a:lstStyle/>
          <a:p>
            <a:fld id="{BB7FEF9A-C820-4304-A4F1-6D4AB01EE95E}" type="slidenum">
              <a:rPr lang="en-IN" smtClean="0"/>
              <a:t>‹#›</a:t>
            </a:fld>
            <a:endParaRPr lang="en-IN"/>
          </a:p>
        </p:txBody>
      </p:sp>
    </p:spTree>
    <p:extLst>
      <p:ext uri="{BB962C8B-B14F-4D97-AF65-F5344CB8AC3E}">
        <p14:creationId xmlns:p14="http://schemas.microsoft.com/office/powerpoint/2010/main" val="1358918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1B1C3-C490-4328-A792-AC896210740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46DD4BE-04A8-4992-9006-3AC41D1B2254}"/>
              </a:ext>
            </a:extLst>
          </p:cNvPr>
          <p:cNvSpPr>
            <a:spLocks noGrp="1"/>
          </p:cNvSpPr>
          <p:nvPr>
            <p:ph type="dt" sz="half" idx="10"/>
          </p:nvPr>
        </p:nvSpPr>
        <p:spPr/>
        <p:txBody>
          <a:bodyPr/>
          <a:lstStyle/>
          <a:p>
            <a:fld id="{E5E083C1-B79F-4157-8E2F-93472A9C9665}" type="datetimeFigureOut">
              <a:rPr lang="en-IN" smtClean="0"/>
              <a:t>11-02-2026</a:t>
            </a:fld>
            <a:endParaRPr lang="en-IN"/>
          </a:p>
        </p:txBody>
      </p:sp>
      <p:sp>
        <p:nvSpPr>
          <p:cNvPr id="4" name="Footer Placeholder 3">
            <a:extLst>
              <a:ext uri="{FF2B5EF4-FFF2-40B4-BE49-F238E27FC236}">
                <a16:creationId xmlns:a16="http://schemas.microsoft.com/office/drawing/2014/main" id="{64B2D3D7-1A52-4EAA-A86D-6C03B41DE06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9A68F16-166D-4FB1-AF6F-5CBAF81EACF7}"/>
              </a:ext>
            </a:extLst>
          </p:cNvPr>
          <p:cNvSpPr>
            <a:spLocks noGrp="1"/>
          </p:cNvSpPr>
          <p:nvPr>
            <p:ph type="sldNum" sz="quarter" idx="12"/>
          </p:nvPr>
        </p:nvSpPr>
        <p:spPr/>
        <p:txBody>
          <a:bodyPr/>
          <a:lstStyle/>
          <a:p>
            <a:fld id="{BB7FEF9A-C820-4304-A4F1-6D4AB01EE95E}" type="slidenum">
              <a:rPr lang="en-IN" smtClean="0"/>
              <a:t>‹#›</a:t>
            </a:fld>
            <a:endParaRPr lang="en-IN"/>
          </a:p>
        </p:txBody>
      </p:sp>
    </p:spTree>
    <p:extLst>
      <p:ext uri="{BB962C8B-B14F-4D97-AF65-F5344CB8AC3E}">
        <p14:creationId xmlns:p14="http://schemas.microsoft.com/office/powerpoint/2010/main" val="1238126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2D5E3A-E0C2-4FC2-965C-C5B090FE38C3}"/>
              </a:ext>
            </a:extLst>
          </p:cNvPr>
          <p:cNvSpPr>
            <a:spLocks noGrp="1"/>
          </p:cNvSpPr>
          <p:nvPr>
            <p:ph type="dt" sz="half" idx="10"/>
          </p:nvPr>
        </p:nvSpPr>
        <p:spPr/>
        <p:txBody>
          <a:bodyPr/>
          <a:lstStyle/>
          <a:p>
            <a:fld id="{E5E083C1-B79F-4157-8E2F-93472A9C9665}" type="datetimeFigureOut">
              <a:rPr lang="en-IN" smtClean="0"/>
              <a:t>11-02-2026</a:t>
            </a:fld>
            <a:endParaRPr lang="en-IN"/>
          </a:p>
        </p:txBody>
      </p:sp>
      <p:sp>
        <p:nvSpPr>
          <p:cNvPr id="3" name="Footer Placeholder 2">
            <a:extLst>
              <a:ext uri="{FF2B5EF4-FFF2-40B4-BE49-F238E27FC236}">
                <a16:creationId xmlns:a16="http://schemas.microsoft.com/office/drawing/2014/main" id="{5D9FD127-648A-4AA0-850E-94CA492C0A7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5B39362-6D92-45E1-B27B-7E3F069F08D6}"/>
              </a:ext>
            </a:extLst>
          </p:cNvPr>
          <p:cNvSpPr>
            <a:spLocks noGrp="1"/>
          </p:cNvSpPr>
          <p:nvPr>
            <p:ph type="sldNum" sz="quarter" idx="12"/>
          </p:nvPr>
        </p:nvSpPr>
        <p:spPr/>
        <p:txBody>
          <a:bodyPr/>
          <a:lstStyle/>
          <a:p>
            <a:fld id="{BB7FEF9A-C820-4304-A4F1-6D4AB01EE95E}" type="slidenum">
              <a:rPr lang="en-IN" smtClean="0"/>
              <a:t>‹#›</a:t>
            </a:fld>
            <a:endParaRPr lang="en-IN"/>
          </a:p>
        </p:txBody>
      </p:sp>
    </p:spTree>
    <p:extLst>
      <p:ext uri="{BB962C8B-B14F-4D97-AF65-F5344CB8AC3E}">
        <p14:creationId xmlns:p14="http://schemas.microsoft.com/office/powerpoint/2010/main" val="1828017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BF829-BCE8-4F7C-954F-6A00D4DB07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1879000-88F8-41CB-A37B-61EB91C506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14185FA-3455-455C-8D2F-1492991EB2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C447F1-0FE4-485B-8AE1-15A3D244B104}"/>
              </a:ext>
            </a:extLst>
          </p:cNvPr>
          <p:cNvSpPr>
            <a:spLocks noGrp="1"/>
          </p:cNvSpPr>
          <p:nvPr>
            <p:ph type="dt" sz="half" idx="10"/>
          </p:nvPr>
        </p:nvSpPr>
        <p:spPr/>
        <p:txBody>
          <a:bodyPr/>
          <a:lstStyle/>
          <a:p>
            <a:fld id="{E5E083C1-B79F-4157-8E2F-93472A9C9665}" type="datetimeFigureOut">
              <a:rPr lang="en-IN" smtClean="0"/>
              <a:t>11-02-2026</a:t>
            </a:fld>
            <a:endParaRPr lang="en-IN"/>
          </a:p>
        </p:txBody>
      </p:sp>
      <p:sp>
        <p:nvSpPr>
          <p:cNvPr id="6" name="Footer Placeholder 5">
            <a:extLst>
              <a:ext uri="{FF2B5EF4-FFF2-40B4-BE49-F238E27FC236}">
                <a16:creationId xmlns:a16="http://schemas.microsoft.com/office/drawing/2014/main" id="{18BF9E1D-29AD-4037-BFF5-F4356FF511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B08A15C-832C-446D-8B46-07F111EBA2B1}"/>
              </a:ext>
            </a:extLst>
          </p:cNvPr>
          <p:cNvSpPr>
            <a:spLocks noGrp="1"/>
          </p:cNvSpPr>
          <p:nvPr>
            <p:ph type="sldNum" sz="quarter" idx="12"/>
          </p:nvPr>
        </p:nvSpPr>
        <p:spPr/>
        <p:txBody>
          <a:bodyPr/>
          <a:lstStyle/>
          <a:p>
            <a:fld id="{BB7FEF9A-C820-4304-A4F1-6D4AB01EE95E}" type="slidenum">
              <a:rPr lang="en-IN" smtClean="0"/>
              <a:t>‹#›</a:t>
            </a:fld>
            <a:endParaRPr lang="en-IN"/>
          </a:p>
        </p:txBody>
      </p:sp>
    </p:spTree>
    <p:extLst>
      <p:ext uri="{BB962C8B-B14F-4D97-AF65-F5344CB8AC3E}">
        <p14:creationId xmlns:p14="http://schemas.microsoft.com/office/powerpoint/2010/main" val="4215590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AFB38-DE92-4E98-8D35-36A2EAC98C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A40E86B-A3D2-4C5B-A77F-722E77775C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6837BD2-1331-4AD9-A81E-D5AF4D6650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3F967A-77CB-49EA-83BE-D18B7B514315}"/>
              </a:ext>
            </a:extLst>
          </p:cNvPr>
          <p:cNvSpPr>
            <a:spLocks noGrp="1"/>
          </p:cNvSpPr>
          <p:nvPr>
            <p:ph type="dt" sz="half" idx="10"/>
          </p:nvPr>
        </p:nvSpPr>
        <p:spPr/>
        <p:txBody>
          <a:bodyPr/>
          <a:lstStyle/>
          <a:p>
            <a:fld id="{E5E083C1-B79F-4157-8E2F-93472A9C9665}" type="datetimeFigureOut">
              <a:rPr lang="en-IN" smtClean="0"/>
              <a:t>11-02-2026</a:t>
            </a:fld>
            <a:endParaRPr lang="en-IN"/>
          </a:p>
        </p:txBody>
      </p:sp>
      <p:sp>
        <p:nvSpPr>
          <p:cNvPr id="6" name="Footer Placeholder 5">
            <a:extLst>
              <a:ext uri="{FF2B5EF4-FFF2-40B4-BE49-F238E27FC236}">
                <a16:creationId xmlns:a16="http://schemas.microsoft.com/office/drawing/2014/main" id="{4774AEA5-BA9A-4B5C-85E9-C90D16C7AA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55FA814-1E9D-43F4-BBC5-BE3BFAFC2D5D}"/>
              </a:ext>
            </a:extLst>
          </p:cNvPr>
          <p:cNvSpPr>
            <a:spLocks noGrp="1"/>
          </p:cNvSpPr>
          <p:nvPr>
            <p:ph type="sldNum" sz="quarter" idx="12"/>
          </p:nvPr>
        </p:nvSpPr>
        <p:spPr/>
        <p:txBody>
          <a:bodyPr/>
          <a:lstStyle/>
          <a:p>
            <a:fld id="{BB7FEF9A-C820-4304-A4F1-6D4AB01EE95E}" type="slidenum">
              <a:rPr lang="en-IN" smtClean="0"/>
              <a:t>‹#›</a:t>
            </a:fld>
            <a:endParaRPr lang="en-IN"/>
          </a:p>
        </p:txBody>
      </p:sp>
    </p:spTree>
    <p:extLst>
      <p:ext uri="{BB962C8B-B14F-4D97-AF65-F5344CB8AC3E}">
        <p14:creationId xmlns:p14="http://schemas.microsoft.com/office/powerpoint/2010/main" val="606322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696A2-5720-4B31-959B-8A3BC9D9AE8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85D9DAE-38FE-436F-8000-34D794A0F1B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DA73AF-F991-421F-970D-0729E53EFC53}"/>
              </a:ext>
            </a:extLst>
          </p:cNvPr>
          <p:cNvSpPr>
            <a:spLocks noGrp="1"/>
          </p:cNvSpPr>
          <p:nvPr>
            <p:ph type="dt" sz="half" idx="10"/>
          </p:nvPr>
        </p:nvSpPr>
        <p:spPr/>
        <p:txBody>
          <a:bodyPr/>
          <a:lstStyle/>
          <a:p>
            <a:fld id="{E5E083C1-B79F-4157-8E2F-93472A9C9665}" type="datetimeFigureOut">
              <a:rPr lang="en-IN" smtClean="0"/>
              <a:t>11-02-2026</a:t>
            </a:fld>
            <a:endParaRPr lang="en-IN"/>
          </a:p>
        </p:txBody>
      </p:sp>
      <p:sp>
        <p:nvSpPr>
          <p:cNvPr id="5" name="Footer Placeholder 4">
            <a:extLst>
              <a:ext uri="{FF2B5EF4-FFF2-40B4-BE49-F238E27FC236}">
                <a16:creationId xmlns:a16="http://schemas.microsoft.com/office/drawing/2014/main" id="{0EE2D4AE-3E4B-43DC-B7F1-392CF1E41D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6D5DE5-67F6-458E-958E-AA3B018D6929}"/>
              </a:ext>
            </a:extLst>
          </p:cNvPr>
          <p:cNvSpPr>
            <a:spLocks noGrp="1"/>
          </p:cNvSpPr>
          <p:nvPr>
            <p:ph type="sldNum" sz="quarter" idx="12"/>
          </p:nvPr>
        </p:nvSpPr>
        <p:spPr/>
        <p:txBody>
          <a:bodyPr/>
          <a:lstStyle/>
          <a:p>
            <a:fld id="{BB7FEF9A-C820-4304-A4F1-6D4AB01EE95E}" type="slidenum">
              <a:rPr lang="en-IN" smtClean="0"/>
              <a:t>‹#›</a:t>
            </a:fld>
            <a:endParaRPr lang="en-IN"/>
          </a:p>
        </p:txBody>
      </p:sp>
    </p:spTree>
    <p:extLst>
      <p:ext uri="{BB962C8B-B14F-4D97-AF65-F5344CB8AC3E}">
        <p14:creationId xmlns:p14="http://schemas.microsoft.com/office/powerpoint/2010/main" val="3938888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437340-B215-40DF-8F5E-1003F28FE2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4FE1A21-2A79-48DA-96FF-C781A08F99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D65BEA-3675-427B-B178-50D112093C77}"/>
              </a:ext>
            </a:extLst>
          </p:cNvPr>
          <p:cNvSpPr>
            <a:spLocks noGrp="1"/>
          </p:cNvSpPr>
          <p:nvPr>
            <p:ph type="dt" sz="half" idx="10"/>
          </p:nvPr>
        </p:nvSpPr>
        <p:spPr/>
        <p:txBody>
          <a:bodyPr/>
          <a:lstStyle/>
          <a:p>
            <a:fld id="{E5E083C1-B79F-4157-8E2F-93472A9C9665}" type="datetimeFigureOut">
              <a:rPr lang="en-IN" smtClean="0"/>
              <a:t>11-02-2026</a:t>
            </a:fld>
            <a:endParaRPr lang="en-IN"/>
          </a:p>
        </p:txBody>
      </p:sp>
      <p:sp>
        <p:nvSpPr>
          <p:cNvPr id="5" name="Footer Placeholder 4">
            <a:extLst>
              <a:ext uri="{FF2B5EF4-FFF2-40B4-BE49-F238E27FC236}">
                <a16:creationId xmlns:a16="http://schemas.microsoft.com/office/drawing/2014/main" id="{D90DC9F8-D299-4D79-879F-329C895550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3A2819-DC2A-4749-9F2B-2399D4C0FD82}"/>
              </a:ext>
            </a:extLst>
          </p:cNvPr>
          <p:cNvSpPr>
            <a:spLocks noGrp="1"/>
          </p:cNvSpPr>
          <p:nvPr>
            <p:ph type="sldNum" sz="quarter" idx="12"/>
          </p:nvPr>
        </p:nvSpPr>
        <p:spPr/>
        <p:txBody>
          <a:bodyPr/>
          <a:lstStyle/>
          <a:p>
            <a:fld id="{BB7FEF9A-C820-4304-A4F1-6D4AB01EE95E}" type="slidenum">
              <a:rPr lang="en-IN" smtClean="0"/>
              <a:t>‹#›</a:t>
            </a:fld>
            <a:endParaRPr lang="en-IN"/>
          </a:p>
        </p:txBody>
      </p:sp>
    </p:spTree>
    <p:extLst>
      <p:ext uri="{BB962C8B-B14F-4D97-AF65-F5344CB8AC3E}">
        <p14:creationId xmlns:p14="http://schemas.microsoft.com/office/powerpoint/2010/main" val="1004924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B0E7B5-8B1D-4472-807F-9C78DCF980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2EB5303-561D-4222-86CE-A865CF71C9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BC48BD-B1C7-4335-BF63-1B60A2ADE6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E083C1-B79F-4157-8E2F-93472A9C9665}" type="datetimeFigureOut">
              <a:rPr lang="en-IN" smtClean="0"/>
              <a:t>11-02-2026</a:t>
            </a:fld>
            <a:endParaRPr lang="en-IN"/>
          </a:p>
        </p:txBody>
      </p:sp>
      <p:sp>
        <p:nvSpPr>
          <p:cNvPr id="5" name="Footer Placeholder 4">
            <a:extLst>
              <a:ext uri="{FF2B5EF4-FFF2-40B4-BE49-F238E27FC236}">
                <a16:creationId xmlns:a16="http://schemas.microsoft.com/office/drawing/2014/main" id="{CA0DE52A-52C3-4499-8A59-3B6DB10DF2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931E2F3-5273-4320-AE35-8A4605DE66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7FEF9A-C820-4304-A4F1-6D4AB01EE95E}" type="slidenum">
              <a:rPr lang="en-IN" smtClean="0"/>
              <a:t>‹#›</a:t>
            </a:fld>
            <a:endParaRPr lang="en-IN"/>
          </a:p>
        </p:txBody>
      </p:sp>
    </p:spTree>
    <p:extLst>
      <p:ext uri="{BB962C8B-B14F-4D97-AF65-F5344CB8AC3E}">
        <p14:creationId xmlns:p14="http://schemas.microsoft.com/office/powerpoint/2010/main" val="1875708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oleObject" Target="file:///D:\Desktop\KGiSL%20Intern\Travel%20&amp;%20Tourism%20dataset.xlsx" TargetMode="Externa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emf"/><Relationship Id="rId5" Type="http://schemas.openxmlformats.org/officeDocument/2006/relationships/oleObject" Target="file:///D:\Desktop\KGiSL%20Intern\Travel%20&amp;%20Tourism%20dataset%20CLEANED.xlsx" TargetMode="External"/><Relationship Id="rId4" Type="http://schemas.microsoft.com/office/2007/relationships/hdphoto" Target="../media/hdphoto2.wdp"/></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1D2EFA8-59C2-4D9A-8966-17346EA6B6F7}"/>
              </a:ext>
            </a:extLst>
          </p:cNvPr>
          <p:cNvSpPr txBox="1"/>
          <p:nvPr/>
        </p:nvSpPr>
        <p:spPr>
          <a:xfrm>
            <a:off x="2245658" y="2921167"/>
            <a:ext cx="8041341" cy="1015663"/>
          </a:xfrm>
          <a:prstGeom prst="rect">
            <a:avLst/>
          </a:prstGeom>
          <a:noFill/>
        </p:spPr>
        <p:txBody>
          <a:bodyPr wrap="square" rtlCol="0">
            <a:spAutoFit/>
          </a:bodyPr>
          <a:lstStyle/>
          <a:p>
            <a:r>
              <a:rPr lang="en-IN" sz="6000" b="1" dirty="0">
                <a:latin typeface="Algerian" panose="04020705040A02060702" pitchFamily="82" charset="0"/>
              </a:rPr>
              <a:t>TRAVEL AND TOURISM </a:t>
            </a:r>
          </a:p>
        </p:txBody>
      </p:sp>
      <p:pic>
        <p:nvPicPr>
          <p:cNvPr id="8" name="Picture 7">
            <a:extLst>
              <a:ext uri="{FF2B5EF4-FFF2-40B4-BE49-F238E27FC236}">
                <a16:creationId xmlns:a16="http://schemas.microsoft.com/office/drawing/2014/main" id="{73DCB03A-4144-45CD-BE5A-2B0C228E412D}"/>
              </a:ext>
            </a:extLst>
          </p:cNvPr>
          <p:cNvPicPr>
            <a:picLocks noChangeAspect="1"/>
          </p:cNvPicPr>
          <p:nvPr/>
        </p:nvPicPr>
        <p:blipFill>
          <a:blip r:embed="rId2">
            <a:alphaModFix amt="20000"/>
            <a:extLst>
              <a:ext uri="{BEBA8EAE-BF5A-486C-A8C5-ECC9F3942E4B}">
                <a14:imgProps xmlns:a14="http://schemas.microsoft.com/office/drawing/2010/main">
                  <a14:imgLayer r:embed="rId3">
                    <a14:imgEffect>
                      <a14:backgroundRemoval t="2429" b="92143" l="6714" r="91429">
                        <a14:foregroundMark x1="49446" y1="4534" x2="50571" y2="3714"/>
                        <a14:foregroundMark x1="46800" y1="6463" x2="47161" y2="6200"/>
                        <a14:foregroundMark x1="43287" y1="9023" x2="43659" y2="8752"/>
                        <a14:foregroundMark x1="42143" y1="9857" x2="42680" y2="9465"/>
                        <a14:foregroundMark x1="50571" y1="3714" x2="52991" y2="5422"/>
                        <a14:foregroundMark x1="59398" y1="9306" x2="61286" y2="9857"/>
                        <a14:foregroundMark x1="49237" y1="4991" x2="51714" y2="4000"/>
                        <a14:foregroundMark x1="50714" y1="3286" x2="49881" y2="3584"/>
                        <a14:foregroundMark x1="51714" y1="2714" x2="52604" y2="3458"/>
                        <a14:foregroundMark x1="60286" y1="86429" x2="55571" y2="77000"/>
                        <a14:foregroundMark x1="55571" y1="77000" x2="59857" y2="84857"/>
                        <a14:foregroundMark x1="59857" y1="84857" x2="59286" y2="84857"/>
                        <a14:foregroundMark x1="59286" y1="69857" x2="68857" y2="70857"/>
                        <a14:foregroundMark x1="91714" y1="64571" x2="89429" y2="64571"/>
                        <a14:foregroundMark x1="58571" y1="92143" x2="52286" y2="84143"/>
                        <a14:foregroundMark x1="52286" y1="84143" x2="52286" y2="84143"/>
                        <a14:foregroundMark x1="49000" y1="87143" x2="43714" y2="89143"/>
                        <a14:foregroundMark x1="45429" y1="66571" x2="43429" y2="68143"/>
                        <a14:foregroundMark x1="30290" y1="64424" x2="31143" y2="63571"/>
                        <a14:foregroundMark x1="28857" y1="65857" x2="29199" y2="65515"/>
                        <a14:foregroundMark x1="6714" y1="54000" x2="10857" y2="54000"/>
                        <a14:foregroundMark x1="6714" y1="56000" x2="11286" y2="65857"/>
                        <a14:foregroundMark x1="13571" y1="82429" x2="14000" y2="83714"/>
                        <a14:foregroundMark x1="18286" y1="88714" x2="17571" y2="86714"/>
                        <a14:foregroundMark x1="50714" y1="76571" x2="46714" y2="76429"/>
                        <a14:foregroundMark x1="26429" y1="16143" x2="15857" y2="15429"/>
                        <a14:foregroundMark x1="15857" y1="15429" x2="15286" y2="14571"/>
                        <a14:foregroundMark x1="76571" y1="17143" x2="86429" y2="15000"/>
                        <a14:foregroundMark x1="86429" y1="15000" x2="87429" y2="15000"/>
                        <a14:backgroundMark x1="46429" y1="8000" x2="48286" y2="5714"/>
                        <a14:backgroundMark x1="47000" y1="6286" x2="49429" y2="4571"/>
                        <a14:backgroundMark x1="53714" y1="4714" x2="59857" y2="8857"/>
                        <a14:backgroundMark x1="54286" y1="4571" x2="52000" y2="2000"/>
                        <a14:backgroundMark x1="45714" y1="7286" x2="45000" y2="8286"/>
                        <a14:backgroundMark x1="43429" y1="9286" x2="47000" y2="6000"/>
                        <a14:backgroundMark x1="42714" y1="9571" x2="43286" y2="9571"/>
                        <a14:backgroundMark x1="43429" y1="9286" x2="42429" y2="9000"/>
                        <a14:backgroundMark x1="30143" y1="69143" x2="28857" y2="66857"/>
                        <a14:backgroundMark x1="27857" y1="65286" x2="27857" y2="65286"/>
                        <a14:backgroundMark x1="27857" y1="65286" x2="27857" y2="65286"/>
                        <a14:backgroundMark x1="29143" y1="65286" x2="28857" y2="64571"/>
                        <a14:backgroundMark x1="30143" y1="65000" x2="30143" y2="65000"/>
                        <a14:backgroundMark x1="30429" y1="64571" x2="29143" y2="65286"/>
                        <a14:backgroundMark x1="44714" y1="64571" x2="41143" y2="64286"/>
                        <a14:backgroundMark x1="47000" y1="64571" x2="50286" y2="64857"/>
                      </a14:backgroundRemoval>
                    </a14:imgEffect>
                  </a14:imgLayer>
                </a14:imgProps>
              </a:ext>
              <a:ext uri="{28A0092B-C50C-407E-A947-70E740481C1C}">
                <a14:useLocalDpi xmlns:a14="http://schemas.microsoft.com/office/drawing/2010/main" val="0"/>
              </a:ext>
            </a:extLst>
          </a:blip>
          <a:stretch>
            <a:fillRect/>
          </a:stretch>
        </p:blipFill>
        <p:spPr>
          <a:xfrm>
            <a:off x="2292722" y="127745"/>
            <a:ext cx="7947212" cy="6333565"/>
          </a:xfrm>
          <a:prstGeom prst="rect">
            <a:avLst/>
          </a:prstGeom>
        </p:spPr>
      </p:pic>
    </p:spTree>
    <p:extLst>
      <p:ext uri="{BB962C8B-B14F-4D97-AF65-F5344CB8AC3E}">
        <p14:creationId xmlns:p14="http://schemas.microsoft.com/office/powerpoint/2010/main" val="3348766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drawing">
            <a:extLst>
              <a:ext uri="{FF2B5EF4-FFF2-40B4-BE49-F238E27FC236}">
                <a16:creationId xmlns:a16="http://schemas.microsoft.com/office/drawing/2014/main" id="{85FD578E-79F0-4112-8BE5-73A1396F410D}"/>
              </a:ext>
            </a:extLst>
          </p:cNvPr>
          <p:cNvPicPr/>
          <p:nvPr/>
        </p:nvPicPr>
        <p:blipFill rotWithShape="1">
          <a:blip r:embed="rId2"/>
          <a:srcRect t="5982" b="17386"/>
          <a:stretch/>
        </p:blipFill>
        <p:spPr>
          <a:xfrm>
            <a:off x="2110154" y="309489"/>
            <a:ext cx="8792308" cy="6288259"/>
          </a:xfrm>
          <a:prstGeom prst="rect">
            <a:avLst/>
          </a:prstGeom>
          <a:ln>
            <a:noFill/>
          </a:ln>
          <a:effectLst>
            <a:softEdge rad="112500"/>
          </a:effectLst>
        </p:spPr>
      </p:pic>
      <p:pic>
        <p:nvPicPr>
          <p:cNvPr id="5" name="Picture 4">
            <a:extLst>
              <a:ext uri="{FF2B5EF4-FFF2-40B4-BE49-F238E27FC236}">
                <a16:creationId xmlns:a16="http://schemas.microsoft.com/office/drawing/2014/main" id="{1A81FAA7-4D7F-4DE5-945D-2258A997695F}"/>
              </a:ext>
            </a:extLst>
          </p:cNvPr>
          <p:cNvPicPr>
            <a:picLocks noChangeAspect="1"/>
          </p:cNvPicPr>
          <p:nvPr/>
        </p:nvPicPr>
        <p:blipFill>
          <a:blip r:embed="rId3">
            <a:alphaModFix amt="5000"/>
            <a:extLst>
              <a:ext uri="{BEBA8EAE-BF5A-486C-A8C5-ECC9F3942E4B}">
                <a14:imgProps xmlns:a14="http://schemas.microsoft.com/office/drawing/2010/main">
                  <a14:imgLayer r:embed="rId4">
                    <a14:imgEffect>
                      <a14:backgroundRemoval t="2429" b="92143" l="6714" r="91429">
                        <a14:foregroundMark x1="49446" y1="4534" x2="50571" y2="3714"/>
                        <a14:foregroundMark x1="46800" y1="6463" x2="47161" y2="6200"/>
                        <a14:foregroundMark x1="43287" y1="9023" x2="43659" y2="8752"/>
                        <a14:foregroundMark x1="42143" y1="9857" x2="42680" y2="9465"/>
                        <a14:foregroundMark x1="50571" y1="3714" x2="52991" y2="5422"/>
                        <a14:foregroundMark x1="59398" y1="9306" x2="61286" y2="9857"/>
                        <a14:foregroundMark x1="49237" y1="4991" x2="51714" y2="4000"/>
                        <a14:foregroundMark x1="50714" y1="3286" x2="49881" y2="3584"/>
                        <a14:foregroundMark x1="51714" y1="2714" x2="52604" y2="3458"/>
                        <a14:foregroundMark x1="60286" y1="86429" x2="55571" y2="77000"/>
                        <a14:foregroundMark x1="55571" y1="77000" x2="59857" y2="84857"/>
                        <a14:foregroundMark x1="59857" y1="84857" x2="59286" y2="84857"/>
                        <a14:foregroundMark x1="59286" y1="69857" x2="68857" y2="70857"/>
                        <a14:foregroundMark x1="91714" y1="64571" x2="89429" y2="64571"/>
                        <a14:foregroundMark x1="58571" y1="92143" x2="52286" y2="84143"/>
                        <a14:foregroundMark x1="52286" y1="84143" x2="52286" y2="84143"/>
                        <a14:foregroundMark x1="49000" y1="87143" x2="43714" y2="89143"/>
                        <a14:foregroundMark x1="45429" y1="66571" x2="43429" y2="68143"/>
                        <a14:foregroundMark x1="30290" y1="64424" x2="31143" y2="63571"/>
                        <a14:foregroundMark x1="28857" y1="65857" x2="29199" y2="65515"/>
                        <a14:foregroundMark x1="6714" y1="54000" x2="10857" y2="54000"/>
                        <a14:foregroundMark x1="6714" y1="56000" x2="11286" y2="65857"/>
                        <a14:foregroundMark x1="13571" y1="82429" x2="14000" y2="83714"/>
                        <a14:foregroundMark x1="18286" y1="88714" x2="17571" y2="86714"/>
                        <a14:foregroundMark x1="50714" y1="76571" x2="46714" y2="76429"/>
                        <a14:foregroundMark x1="26429" y1="16143" x2="15857" y2="15429"/>
                        <a14:foregroundMark x1="15857" y1="15429" x2="15286" y2="14571"/>
                        <a14:foregroundMark x1="76571" y1="17143" x2="86429" y2="15000"/>
                        <a14:foregroundMark x1="86429" y1="15000" x2="87429" y2="15000"/>
                        <a14:backgroundMark x1="46429" y1="8000" x2="48286" y2="5714"/>
                        <a14:backgroundMark x1="47000" y1="6286" x2="49429" y2="4571"/>
                        <a14:backgroundMark x1="53714" y1="4714" x2="59857" y2="8857"/>
                        <a14:backgroundMark x1="54286" y1="4571" x2="52000" y2="2000"/>
                        <a14:backgroundMark x1="45714" y1="7286" x2="45000" y2="8286"/>
                        <a14:backgroundMark x1="43429" y1="9286" x2="47000" y2="6000"/>
                        <a14:backgroundMark x1="42714" y1="9571" x2="43286" y2="9571"/>
                        <a14:backgroundMark x1="43429" y1="9286" x2="42429" y2="9000"/>
                        <a14:backgroundMark x1="30143" y1="69143" x2="28857" y2="66857"/>
                        <a14:backgroundMark x1="27857" y1="65286" x2="27857" y2="65286"/>
                        <a14:backgroundMark x1="27857" y1="65286" x2="27857" y2="65286"/>
                        <a14:backgroundMark x1="29143" y1="65286" x2="28857" y2="64571"/>
                        <a14:backgroundMark x1="30143" y1="65000" x2="30143" y2="65000"/>
                        <a14:backgroundMark x1="30429" y1="64571" x2="29143" y2="65286"/>
                        <a14:backgroundMark x1="44714" y1="64571" x2="41143" y2="64286"/>
                        <a14:backgroundMark x1="47000" y1="64571" x2="50286" y2="64857"/>
                      </a14:backgroundRemoval>
                    </a14:imgEffect>
                  </a14:imgLayer>
                </a14:imgProps>
              </a:ext>
              <a:ext uri="{28A0092B-C50C-407E-A947-70E740481C1C}">
                <a14:useLocalDpi xmlns:a14="http://schemas.microsoft.com/office/drawing/2010/main" val="0"/>
              </a:ext>
            </a:extLst>
          </a:blip>
          <a:stretch>
            <a:fillRect/>
          </a:stretch>
        </p:blipFill>
        <p:spPr>
          <a:xfrm>
            <a:off x="0" y="98989"/>
            <a:ext cx="12192000" cy="7019263"/>
          </a:xfrm>
          <a:prstGeom prst="rect">
            <a:avLst/>
          </a:prstGeom>
        </p:spPr>
      </p:pic>
    </p:spTree>
    <p:extLst>
      <p:ext uri="{BB962C8B-B14F-4D97-AF65-F5344CB8AC3E}">
        <p14:creationId xmlns:p14="http://schemas.microsoft.com/office/powerpoint/2010/main" val="1270388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52DA2-1CB0-4761-A4FF-2321AD726296}"/>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a16="http://schemas.microsoft.com/office/drawing/2014/main" id="{DC097E68-B4FD-4F46-BD63-0EB454D61275}"/>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0" y="0"/>
            <a:ext cx="12320542" cy="6971341"/>
          </a:xfrm>
          <a:prstGeom prst="rect">
            <a:avLst/>
          </a:prstGeom>
        </p:spPr>
      </p:pic>
      <p:sp>
        <p:nvSpPr>
          <p:cNvPr id="6" name="TextBox 5">
            <a:extLst>
              <a:ext uri="{FF2B5EF4-FFF2-40B4-BE49-F238E27FC236}">
                <a16:creationId xmlns:a16="http://schemas.microsoft.com/office/drawing/2014/main" id="{FACAB28A-6282-4750-92CD-8F10E5A853E0}"/>
              </a:ext>
            </a:extLst>
          </p:cNvPr>
          <p:cNvSpPr txBox="1"/>
          <p:nvPr/>
        </p:nvSpPr>
        <p:spPr>
          <a:xfrm>
            <a:off x="365760" y="859691"/>
            <a:ext cx="8145194" cy="830997"/>
          </a:xfrm>
          <a:prstGeom prst="rect">
            <a:avLst/>
          </a:prstGeom>
          <a:noFill/>
        </p:spPr>
        <p:txBody>
          <a:bodyPr wrap="square" rtlCol="0">
            <a:spAutoFit/>
          </a:bodyPr>
          <a:lstStyle/>
          <a:p>
            <a:r>
              <a:rPr lang="en-IN" sz="4800" b="1" dirty="0">
                <a:latin typeface="Times New Roman" panose="02020603050405020304" pitchFamily="18" charset="0"/>
                <a:cs typeface="Times New Roman" panose="02020603050405020304" pitchFamily="18" charset="0"/>
              </a:rPr>
              <a:t>Project Overview</a:t>
            </a:r>
          </a:p>
        </p:txBody>
      </p:sp>
      <p:sp>
        <p:nvSpPr>
          <p:cNvPr id="7" name="TextBox 6">
            <a:extLst>
              <a:ext uri="{FF2B5EF4-FFF2-40B4-BE49-F238E27FC236}">
                <a16:creationId xmlns:a16="http://schemas.microsoft.com/office/drawing/2014/main" id="{8776EA47-428A-438B-9519-42E4FA8F4717}"/>
              </a:ext>
            </a:extLst>
          </p:cNvPr>
          <p:cNvSpPr txBox="1"/>
          <p:nvPr/>
        </p:nvSpPr>
        <p:spPr>
          <a:xfrm flipH="1">
            <a:off x="838200" y="2236763"/>
            <a:ext cx="11353800" cy="3108543"/>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Travel &amp; tourism industry generates large booking data</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Raw data is difficult to analyze directly</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project converts raw booking data into insights</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Objective: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To analyze booking patterns, revenue, customer behavior, and destination trends.</a:t>
            </a:r>
          </a:p>
        </p:txBody>
      </p:sp>
    </p:spTree>
    <p:extLst>
      <p:ext uri="{BB962C8B-B14F-4D97-AF65-F5344CB8AC3E}">
        <p14:creationId xmlns:p14="http://schemas.microsoft.com/office/powerpoint/2010/main" val="3856694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52DA2-1CB0-4761-A4FF-2321AD726296}"/>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a16="http://schemas.microsoft.com/office/drawing/2014/main" id="{DC097E68-B4FD-4F46-BD63-0EB454D61275}"/>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0" y="0"/>
            <a:ext cx="12320542" cy="6971341"/>
          </a:xfrm>
          <a:prstGeom prst="rect">
            <a:avLst/>
          </a:prstGeom>
        </p:spPr>
      </p:pic>
      <p:sp>
        <p:nvSpPr>
          <p:cNvPr id="6" name="TextBox 5">
            <a:extLst>
              <a:ext uri="{FF2B5EF4-FFF2-40B4-BE49-F238E27FC236}">
                <a16:creationId xmlns:a16="http://schemas.microsoft.com/office/drawing/2014/main" id="{FACAB28A-6282-4750-92CD-8F10E5A853E0}"/>
              </a:ext>
            </a:extLst>
          </p:cNvPr>
          <p:cNvSpPr txBox="1"/>
          <p:nvPr/>
        </p:nvSpPr>
        <p:spPr>
          <a:xfrm>
            <a:off x="365760" y="859691"/>
            <a:ext cx="8145194" cy="830997"/>
          </a:xfrm>
          <a:prstGeom prst="rect">
            <a:avLst/>
          </a:prstGeom>
          <a:noFill/>
        </p:spPr>
        <p:txBody>
          <a:bodyPr wrap="square" rtlCol="0">
            <a:spAutoFit/>
          </a:bodyPr>
          <a:lstStyle/>
          <a:p>
            <a:r>
              <a:rPr lang="en-IN" sz="4800" b="1" dirty="0">
                <a:latin typeface="Times New Roman" panose="02020603050405020304" pitchFamily="18" charset="0"/>
                <a:cs typeface="Times New Roman" panose="02020603050405020304" pitchFamily="18" charset="0"/>
              </a:rPr>
              <a:t>Dataset Description</a:t>
            </a:r>
          </a:p>
        </p:txBody>
      </p:sp>
      <p:sp>
        <p:nvSpPr>
          <p:cNvPr id="7" name="TextBox 6">
            <a:extLst>
              <a:ext uri="{FF2B5EF4-FFF2-40B4-BE49-F238E27FC236}">
                <a16:creationId xmlns:a16="http://schemas.microsoft.com/office/drawing/2014/main" id="{8776EA47-428A-438B-9519-42E4FA8F4717}"/>
              </a:ext>
            </a:extLst>
          </p:cNvPr>
          <p:cNvSpPr txBox="1"/>
          <p:nvPr/>
        </p:nvSpPr>
        <p:spPr>
          <a:xfrm flipH="1">
            <a:off x="838200" y="2236763"/>
            <a:ext cx="11353800" cy="3761286"/>
          </a:xfrm>
          <a:prstGeom prst="rect">
            <a:avLst/>
          </a:prstGeom>
          <a:noFill/>
        </p:spPr>
        <p:txBody>
          <a:bodyPr wrap="square" rtlCol="0">
            <a:spAutoFit/>
          </a:bodyPr>
          <a:lstStyle/>
          <a:p>
            <a:pPr lvl="0" algn="just">
              <a:lnSpc>
                <a:spcPct val="115000"/>
              </a:lnSpc>
              <a:spcBef>
                <a:spcPts val="1200"/>
              </a:spcBef>
              <a:spcAft>
                <a:spcPts val="1200"/>
              </a:spcAft>
            </a:pPr>
            <a:r>
              <a:rPr lang="en-IN" sz="2800" b="1" dirty="0">
                <a:latin typeface="Times New Roman" panose="02020603050405020304" pitchFamily="18" charset="0"/>
                <a:cs typeface="Times New Roman" panose="02020603050405020304" pitchFamily="18" charset="0"/>
              </a:rPr>
              <a:t>Source:</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Mockaroo</a:t>
            </a:r>
            <a:endParaRPr lang="en-IN" sz="2800" dirty="0">
              <a:latin typeface="Times New Roman" panose="02020603050405020304" pitchFamily="18" charset="0"/>
              <a:cs typeface="Times New Roman" panose="02020603050405020304" pitchFamily="18" charset="0"/>
            </a:endParaRPr>
          </a:p>
          <a:p>
            <a:pPr marL="342900" lvl="0" indent="-342900" algn="just">
              <a:lnSpc>
                <a:spcPct val="115000"/>
              </a:lnSpc>
              <a:spcBef>
                <a:spcPts val="1200"/>
              </a:spcBef>
              <a:spcAft>
                <a:spcPts val="1200"/>
              </a:spcAft>
              <a:buFont typeface="Symbol" panose="05050102010706020507" pitchFamily="18" charset="2"/>
              <a:buChar char=""/>
            </a:pP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Customer demographics : age, gender, country.</a:t>
            </a:r>
            <a:endParaRPr lang="en-IN" sz="2800" kern="100" dirty="0">
              <a:effectLst/>
              <a:latin typeface="Times New Roman" panose="02020603050405020304" pitchFamily="18" charset="0"/>
              <a:ea typeface="Aptos"/>
              <a:cs typeface="Times New Roman" panose="02020603050405020304" pitchFamily="18" charset="0"/>
            </a:endParaRPr>
          </a:p>
          <a:p>
            <a:pPr marL="342900" lvl="0" indent="-342900" algn="just">
              <a:lnSpc>
                <a:spcPct val="115000"/>
              </a:lnSpc>
              <a:spcBef>
                <a:spcPts val="1200"/>
              </a:spcBef>
              <a:spcAft>
                <a:spcPts val="1200"/>
              </a:spcAft>
              <a:buFont typeface="Symbol" panose="05050102010706020507" pitchFamily="18" charset="2"/>
              <a:buChar char=""/>
            </a:pP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Travel details : destination, travel type, season, trip duration.</a:t>
            </a:r>
            <a:endParaRPr lang="en-IN" sz="2800" kern="100" dirty="0">
              <a:effectLst/>
              <a:latin typeface="Times New Roman" panose="02020603050405020304" pitchFamily="18" charset="0"/>
              <a:ea typeface="Aptos"/>
              <a:cs typeface="Times New Roman" panose="02020603050405020304" pitchFamily="18" charset="0"/>
            </a:endParaRPr>
          </a:p>
          <a:p>
            <a:pPr marL="342900" lvl="0" indent="-342900" algn="just">
              <a:lnSpc>
                <a:spcPct val="115000"/>
              </a:lnSpc>
              <a:spcBef>
                <a:spcPts val="1200"/>
              </a:spcBef>
              <a:spcAft>
                <a:spcPts val="1200"/>
              </a:spcAft>
              <a:buFont typeface="Symbol" panose="05050102010706020507" pitchFamily="18" charset="2"/>
              <a:buChar char=""/>
            </a:pP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Booking attributes : booking channel, payment mode, booking date.</a:t>
            </a:r>
            <a:endParaRPr lang="en-IN" sz="2800" kern="100" dirty="0">
              <a:effectLst/>
              <a:latin typeface="Times New Roman" panose="02020603050405020304" pitchFamily="18" charset="0"/>
              <a:ea typeface="Aptos"/>
              <a:cs typeface="Times New Roman" panose="02020603050405020304" pitchFamily="18" charset="0"/>
            </a:endParaRPr>
          </a:p>
          <a:p>
            <a:pPr marL="342900" lvl="0" indent="-342900" algn="just">
              <a:lnSpc>
                <a:spcPct val="115000"/>
              </a:lnSpc>
              <a:spcBef>
                <a:spcPts val="1200"/>
              </a:spcBef>
              <a:spcAft>
                <a:spcPts val="1200"/>
              </a:spcAft>
              <a:buFont typeface="Symbol" panose="05050102010706020507" pitchFamily="18" charset="2"/>
              <a:buChar char=""/>
            </a:pPr>
            <a:r>
              <a:rPr lang="en-IN" sz="2800" kern="100" dirty="0">
                <a:effectLst/>
                <a:latin typeface="Times New Roman" panose="02020603050405020304" pitchFamily="18" charset="0"/>
                <a:ea typeface="Times New Roman" panose="02020603050405020304" pitchFamily="18" charset="0"/>
                <a:cs typeface="Times New Roman" panose="02020603050405020304" pitchFamily="18" charset="0"/>
              </a:rPr>
              <a:t>Revenue-related information : total revenue, number of travellers.</a:t>
            </a:r>
            <a:endParaRPr lang="en-IN" sz="2800" kern="100" dirty="0">
              <a:effectLst/>
              <a:latin typeface="Times New Roman" panose="02020603050405020304" pitchFamily="18" charset="0"/>
              <a:ea typeface="Aptos"/>
              <a:cs typeface="Times New Roman" panose="02020603050405020304" pitchFamily="18" charset="0"/>
            </a:endParaRPr>
          </a:p>
        </p:txBody>
      </p:sp>
    </p:spTree>
    <p:extLst>
      <p:ext uri="{BB962C8B-B14F-4D97-AF65-F5344CB8AC3E}">
        <p14:creationId xmlns:p14="http://schemas.microsoft.com/office/powerpoint/2010/main" val="614361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52DA2-1CB0-4761-A4FF-2321AD726296}"/>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a16="http://schemas.microsoft.com/office/drawing/2014/main" id="{DC097E68-B4FD-4F46-BD63-0EB454D61275}"/>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0" y="0"/>
            <a:ext cx="12320542" cy="6971341"/>
          </a:xfrm>
          <a:prstGeom prst="rect">
            <a:avLst/>
          </a:prstGeom>
        </p:spPr>
      </p:pic>
      <p:sp>
        <p:nvSpPr>
          <p:cNvPr id="6" name="TextBox 5">
            <a:extLst>
              <a:ext uri="{FF2B5EF4-FFF2-40B4-BE49-F238E27FC236}">
                <a16:creationId xmlns:a16="http://schemas.microsoft.com/office/drawing/2014/main" id="{FACAB28A-6282-4750-92CD-8F10E5A853E0}"/>
              </a:ext>
            </a:extLst>
          </p:cNvPr>
          <p:cNvSpPr txBox="1"/>
          <p:nvPr/>
        </p:nvSpPr>
        <p:spPr>
          <a:xfrm>
            <a:off x="365760" y="859691"/>
            <a:ext cx="8145194" cy="830997"/>
          </a:xfrm>
          <a:prstGeom prst="rect">
            <a:avLst/>
          </a:prstGeom>
          <a:noFill/>
        </p:spPr>
        <p:txBody>
          <a:bodyPr wrap="square" rtlCol="0">
            <a:spAutoFit/>
          </a:bodyPr>
          <a:lstStyle/>
          <a:p>
            <a:r>
              <a:rPr lang="en-IN" sz="4800" b="1" dirty="0">
                <a:latin typeface="Times New Roman" panose="02020603050405020304" pitchFamily="18" charset="0"/>
                <a:cs typeface="Times New Roman" panose="02020603050405020304" pitchFamily="18" charset="0"/>
              </a:rPr>
              <a:t>Tools &amp; Technologies</a:t>
            </a:r>
          </a:p>
        </p:txBody>
      </p:sp>
      <p:sp>
        <p:nvSpPr>
          <p:cNvPr id="7" name="TextBox 6">
            <a:extLst>
              <a:ext uri="{FF2B5EF4-FFF2-40B4-BE49-F238E27FC236}">
                <a16:creationId xmlns:a16="http://schemas.microsoft.com/office/drawing/2014/main" id="{8776EA47-428A-438B-9519-42E4FA8F4717}"/>
              </a:ext>
            </a:extLst>
          </p:cNvPr>
          <p:cNvSpPr txBox="1"/>
          <p:nvPr/>
        </p:nvSpPr>
        <p:spPr>
          <a:xfrm flipH="1">
            <a:off x="1533378" y="2236763"/>
            <a:ext cx="10658622" cy="2163028"/>
          </a:xfrm>
          <a:prstGeom prst="rect">
            <a:avLst/>
          </a:prstGeom>
          <a:noFill/>
        </p:spPr>
        <p:txBody>
          <a:bodyPr wrap="square" rtlCol="0">
            <a:spAutoFit/>
          </a:bodyPr>
          <a:lstStyle/>
          <a:p>
            <a:pPr marL="342900" lvl="0" indent="-342900" algn="just">
              <a:lnSpc>
                <a:spcPct val="115000"/>
              </a:lnSpc>
              <a:spcBef>
                <a:spcPts val="1200"/>
              </a:spcBef>
              <a:spcAft>
                <a:spcPts val="1200"/>
              </a:spcAft>
              <a:buFont typeface="Symbol" panose="05050102010706020507" pitchFamily="18" charset="2"/>
              <a:buChar char=""/>
            </a:pPr>
            <a:r>
              <a:rPr lang="en-IN" sz="2800" kern="100" dirty="0">
                <a:latin typeface="Times New Roman" panose="02020603050405020304" pitchFamily="18" charset="0"/>
                <a:ea typeface="Times New Roman" panose="02020603050405020304" pitchFamily="18" charset="0"/>
                <a:cs typeface="Times New Roman" panose="02020603050405020304" pitchFamily="18" charset="0"/>
              </a:rPr>
              <a:t>Excel - </a:t>
            </a:r>
            <a:r>
              <a:rPr lang="en-IN" sz="2800" dirty="0">
                <a:latin typeface="Times New Roman" panose="02020603050405020304" pitchFamily="18" charset="0"/>
                <a:cs typeface="Times New Roman" panose="02020603050405020304" pitchFamily="18" charset="0"/>
              </a:rPr>
              <a:t>Data cleaning and pre-processing</a:t>
            </a:r>
          </a:p>
          <a:p>
            <a:pPr marL="342900" lvl="0" indent="-342900" algn="just">
              <a:lnSpc>
                <a:spcPct val="115000"/>
              </a:lnSpc>
              <a:spcBef>
                <a:spcPts val="1200"/>
              </a:spcBef>
              <a:spcAft>
                <a:spcPts val="1200"/>
              </a:spcAft>
              <a:buFont typeface="Symbol" panose="05050102010706020507" pitchFamily="18" charset="2"/>
              <a:buChar char=""/>
            </a:pPr>
            <a:r>
              <a:rPr lang="en-IN" sz="2800" kern="100" dirty="0">
                <a:latin typeface="Times New Roman" panose="02020603050405020304" pitchFamily="18" charset="0"/>
                <a:ea typeface="Times New Roman" panose="02020603050405020304" pitchFamily="18" charset="0"/>
                <a:cs typeface="Times New Roman" panose="02020603050405020304" pitchFamily="18" charset="0"/>
              </a:rPr>
              <a:t>MySQL - </a:t>
            </a:r>
            <a:r>
              <a:rPr lang="en-US" sz="2800" dirty="0">
                <a:latin typeface="Times New Roman" panose="02020603050405020304" pitchFamily="18" charset="0"/>
                <a:cs typeface="Times New Roman" panose="02020603050405020304" pitchFamily="18" charset="0"/>
              </a:rPr>
              <a:t>Database storage and query-based analysis</a:t>
            </a:r>
            <a:endParaRPr lang="en-IN" sz="2800" dirty="0">
              <a:latin typeface="Times New Roman" panose="02020603050405020304" pitchFamily="18" charset="0"/>
              <a:cs typeface="Times New Roman" panose="02020603050405020304" pitchFamily="18" charset="0"/>
            </a:endParaRPr>
          </a:p>
          <a:p>
            <a:pPr marL="342900" lvl="0" indent="-342900" algn="just">
              <a:lnSpc>
                <a:spcPct val="115000"/>
              </a:lnSpc>
              <a:spcBef>
                <a:spcPts val="1200"/>
              </a:spcBef>
              <a:spcAft>
                <a:spcPts val="1200"/>
              </a:spcAft>
              <a:buFont typeface="Symbol" panose="05050102010706020507" pitchFamily="18" charset="2"/>
              <a:buChar char=""/>
            </a:pPr>
            <a:r>
              <a:rPr lang="en-IN" sz="2800" kern="100" dirty="0">
                <a:latin typeface="Times New Roman" panose="02020603050405020304" pitchFamily="18" charset="0"/>
                <a:ea typeface="Times New Roman" panose="02020603050405020304" pitchFamily="18" charset="0"/>
                <a:cs typeface="Times New Roman" panose="02020603050405020304" pitchFamily="18" charset="0"/>
              </a:rPr>
              <a:t>Power BI - </a:t>
            </a:r>
            <a:r>
              <a:rPr lang="en-IN" sz="2800" dirty="0">
                <a:latin typeface="Times New Roman" panose="02020603050405020304" pitchFamily="18" charset="0"/>
                <a:cs typeface="Times New Roman" panose="02020603050405020304" pitchFamily="18" charset="0"/>
              </a:rPr>
              <a:t>Interactive dashboards and visualization</a:t>
            </a:r>
          </a:p>
        </p:txBody>
      </p:sp>
    </p:spTree>
    <p:extLst>
      <p:ext uri="{BB962C8B-B14F-4D97-AF65-F5344CB8AC3E}">
        <p14:creationId xmlns:p14="http://schemas.microsoft.com/office/powerpoint/2010/main" val="3231287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52DA2-1CB0-4761-A4FF-2321AD726296}"/>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a16="http://schemas.microsoft.com/office/drawing/2014/main" id="{DC097E68-B4FD-4F46-BD63-0EB454D61275}"/>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0" y="1"/>
            <a:ext cx="12192000" cy="7099080"/>
          </a:xfrm>
          <a:prstGeom prst="rect">
            <a:avLst/>
          </a:prstGeom>
        </p:spPr>
      </p:pic>
      <p:sp>
        <p:nvSpPr>
          <p:cNvPr id="6" name="TextBox 5">
            <a:extLst>
              <a:ext uri="{FF2B5EF4-FFF2-40B4-BE49-F238E27FC236}">
                <a16:creationId xmlns:a16="http://schemas.microsoft.com/office/drawing/2014/main" id="{FACAB28A-6282-4750-92CD-8F10E5A853E0}"/>
              </a:ext>
            </a:extLst>
          </p:cNvPr>
          <p:cNvSpPr txBox="1"/>
          <p:nvPr/>
        </p:nvSpPr>
        <p:spPr>
          <a:xfrm>
            <a:off x="365760" y="859691"/>
            <a:ext cx="8145194" cy="830997"/>
          </a:xfrm>
          <a:prstGeom prst="rect">
            <a:avLst/>
          </a:prstGeom>
          <a:noFill/>
        </p:spPr>
        <p:txBody>
          <a:bodyPr wrap="square" rtlCol="0">
            <a:spAutoFit/>
          </a:bodyPr>
          <a:lstStyle/>
          <a:p>
            <a:r>
              <a:rPr lang="en-IN" sz="4800" b="1" dirty="0">
                <a:latin typeface="Times New Roman" panose="02020603050405020304" pitchFamily="18" charset="0"/>
                <a:cs typeface="Times New Roman" panose="02020603050405020304" pitchFamily="18" charset="0"/>
              </a:rPr>
              <a:t>Excel – Data Cleaning</a:t>
            </a:r>
          </a:p>
        </p:txBody>
      </p:sp>
      <p:sp>
        <p:nvSpPr>
          <p:cNvPr id="7" name="TextBox 6">
            <a:extLst>
              <a:ext uri="{FF2B5EF4-FFF2-40B4-BE49-F238E27FC236}">
                <a16:creationId xmlns:a16="http://schemas.microsoft.com/office/drawing/2014/main" id="{8776EA47-428A-438B-9519-42E4FA8F4717}"/>
              </a:ext>
            </a:extLst>
          </p:cNvPr>
          <p:cNvSpPr txBox="1"/>
          <p:nvPr/>
        </p:nvSpPr>
        <p:spPr>
          <a:xfrm flipH="1">
            <a:off x="970671" y="1931768"/>
            <a:ext cx="11221329" cy="4798493"/>
          </a:xfrm>
          <a:prstGeom prst="rect">
            <a:avLst/>
          </a:prstGeom>
          <a:noFill/>
        </p:spPr>
        <p:txBody>
          <a:bodyPr wrap="square" rtlCol="0">
            <a:spAutoFit/>
          </a:bodyPr>
          <a:lstStyle/>
          <a:p>
            <a:pPr lvl="0" algn="just">
              <a:lnSpc>
                <a:spcPct val="115000"/>
              </a:lnSpc>
              <a:spcBef>
                <a:spcPts val="1200"/>
              </a:spcBef>
              <a:spcAft>
                <a:spcPts val="1200"/>
              </a:spcAft>
            </a:pPr>
            <a:r>
              <a:rPr lang="en-US" sz="2800" b="1" dirty="0">
                <a:latin typeface="Times New Roman" panose="02020603050405020304" pitchFamily="18" charset="0"/>
                <a:cs typeface="Times New Roman" panose="02020603050405020304" pitchFamily="18" charset="0"/>
              </a:rPr>
              <a:t>Tasks done in Excel:</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Removed duplicates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Handled missing values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Standardized date format</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Capitalized first letter of Customer Name</a:t>
            </a:r>
          </a:p>
          <a:p>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Outcome: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Clean, structured dataset ready for database import, with properly formatted customer names.</a:t>
            </a:r>
          </a:p>
          <a:p>
            <a:pPr marL="342900" lvl="0" indent="-342900" algn="just">
              <a:lnSpc>
                <a:spcPct val="115000"/>
              </a:lnSpc>
              <a:spcBef>
                <a:spcPts val="1200"/>
              </a:spcBef>
              <a:spcAft>
                <a:spcPts val="1200"/>
              </a:spcAft>
              <a:buFont typeface="Symbol" panose="05050102010706020507" pitchFamily="18" charset="2"/>
              <a:buChar char=""/>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6264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52DA2-1CB0-4761-A4FF-2321AD726296}"/>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a16="http://schemas.microsoft.com/office/drawing/2014/main" id="{DC097E68-B4FD-4F46-BD63-0EB454D61275}"/>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0" y="1"/>
            <a:ext cx="12320542" cy="6858000"/>
          </a:xfrm>
          <a:prstGeom prst="rect">
            <a:avLst/>
          </a:prstGeom>
        </p:spPr>
      </p:pic>
      <p:sp>
        <p:nvSpPr>
          <p:cNvPr id="6" name="TextBox 5">
            <a:extLst>
              <a:ext uri="{FF2B5EF4-FFF2-40B4-BE49-F238E27FC236}">
                <a16:creationId xmlns:a16="http://schemas.microsoft.com/office/drawing/2014/main" id="{FACAB28A-6282-4750-92CD-8F10E5A853E0}"/>
              </a:ext>
            </a:extLst>
          </p:cNvPr>
          <p:cNvSpPr txBox="1"/>
          <p:nvPr/>
        </p:nvSpPr>
        <p:spPr>
          <a:xfrm>
            <a:off x="365760" y="859691"/>
            <a:ext cx="8145194" cy="830997"/>
          </a:xfrm>
          <a:prstGeom prst="rect">
            <a:avLst/>
          </a:prstGeom>
          <a:noFill/>
        </p:spPr>
        <p:txBody>
          <a:bodyPr wrap="square" rtlCol="0">
            <a:spAutoFit/>
          </a:bodyPr>
          <a:lstStyle/>
          <a:p>
            <a:r>
              <a:rPr lang="en-IN" sz="4800" b="1" dirty="0">
                <a:latin typeface="Times New Roman" panose="02020603050405020304" pitchFamily="18" charset="0"/>
                <a:cs typeface="Times New Roman" panose="02020603050405020304" pitchFamily="18" charset="0"/>
              </a:rPr>
              <a:t>Excel – Data Cleaning</a:t>
            </a:r>
          </a:p>
        </p:txBody>
      </p:sp>
      <p:graphicFrame>
        <p:nvGraphicFramePr>
          <p:cNvPr id="10" name="Object 9">
            <a:extLst>
              <a:ext uri="{FF2B5EF4-FFF2-40B4-BE49-F238E27FC236}">
                <a16:creationId xmlns:a16="http://schemas.microsoft.com/office/drawing/2014/main" id="{925741E8-E523-40CA-9729-30881115E85B}"/>
              </a:ext>
            </a:extLst>
          </p:cNvPr>
          <p:cNvGraphicFramePr>
            <a:graphicFrameLocks noChangeAspect="1"/>
          </p:cNvGraphicFramePr>
          <p:nvPr>
            <p:extLst>
              <p:ext uri="{D42A27DB-BD31-4B8C-83A1-F6EECF244321}">
                <p14:modId xmlns:p14="http://schemas.microsoft.com/office/powerpoint/2010/main" val="372313108"/>
              </p:ext>
            </p:extLst>
          </p:nvPr>
        </p:nvGraphicFramePr>
        <p:xfrm>
          <a:off x="6778283" y="2185254"/>
          <a:ext cx="3885028" cy="3315214"/>
        </p:xfrm>
        <a:graphic>
          <a:graphicData uri="http://schemas.openxmlformats.org/presentationml/2006/ole">
            <mc:AlternateContent xmlns:mc="http://schemas.openxmlformats.org/markup-compatibility/2006">
              <mc:Choice xmlns:v="urn:schemas-microsoft-com:vml" Requires="v">
                <p:oleObj spid="_x0000_s2062" name="Worksheet" showAsIcon="1" r:id="rId5" imgW="914570" imgH="771459" progId="Excel.Sheet.12">
                  <p:link updateAutomatic="1"/>
                </p:oleObj>
              </mc:Choice>
              <mc:Fallback>
                <p:oleObj name="Worksheet" showAsIcon="1" r:id="rId5" imgW="914570" imgH="771459" progId="Excel.Sheet.12">
                  <p:link updateAutomatic="1"/>
                  <p:pic>
                    <p:nvPicPr>
                      <p:cNvPr id="0" name=""/>
                      <p:cNvPicPr/>
                      <p:nvPr/>
                    </p:nvPicPr>
                    <p:blipFill>
                      <a:blip r:embed="rId6"/>
                      <a:stretch>
                        <a:fillRect/>
                      </a:stretch>
                    </p:blipFill>
                    <p:spPr>
                      <a:xfrm>
                        <a:off x="6778283" y="2185254"/>
                        <a:ext cx="3885028" cy="3315214"/>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EECDBEB9-34F0-4132-B99F-DBC99D3273A7}"/>
              </a:ext>
            </a:extLst>
          </p:cNvPr>
          <p:cNvGraphicFramePr>
            <a:graphicFrameLocks noChangeAspect="1"/>
          </p:cNvGraphicFramePr>
          <p:nvPr>
            <p:extLst>
              <p:ext uri="{D42A27DB-BD31-4B8C-83A1-F6EECF244321}">
                <p14:modId xmlns:p14="http://schemas.microsoft.com/office/powerpoint/2010/main" val="2545894236"/>
              </p:ext>
            </p:extLst>
          </p:nvPr>
        </p:nvGraphicFramePr>
        <p:xfrm>
          <a:off x="1528689" y="2185254"/>
          <a:ext cx="3885028" cy="3315214"/>
        </p:xfrm>
        <a:graphic>
          <a:graphicData uri="http://schemas.openxmlformats.org/presentationml/2006/ole">
            <mc:AlternateContent xmlns:mc="http://schemas.openxmlformats.org/markup-compatibility/2006">
              <mc:Choice xmlns:v="urn:schemas-microsoft-com:vml" Requires="v">
                <p:oleObj spid="_x0000_s2063" name="Worksheet" showAsIcon="1" r:id="rId7" imgW="914570" imgH="771459" progId="Excel.Sheet.12">
                  <p:link updateAutomatic="1"/>
                </p:oleObj>
              </mc:Choice>
              <mc:Fallback>
                <p:oleObj name="Worksheet" showAsIcon="1" r:id="rId7" imgW="914570" imgH="771459" progId="Excel.Sheet.12">
                  <p:link updateAutomatic="1"/>
                  <p:pic>
                    <p:nvPicPr>
                      <p:cNvPr id="0" name=""/>
                      <p:cNvPicPr/>
                      <p:nvPr/>
                    </p:nvPicPr>
                    <p:blipFill>
                      <a:blip r:embed="rId6"/>
                      <a:stretch>
                        <a:fillRect/>
                      </a:stretch>
                    </p:blipFill>
                    <p:spPr>
                      <a:xfrm>
                        <a:off x="1528689" y="2185254"/>
                        <a:ext cx="3885028" cy="3315214"/>
                      </a:xfrm>
                      <a:prstGeom prst="rect">
                        <a:avLst/>
                      </a:prstGeom>
                    </p:spPr>
                  </p:pic>
                </p:oleObj>
              </mc:Fallback>
            </mc:AlternateContent>
          </a:graphicData>
        </a:graphic>
      </p:graphicFrame>
      <p:cxnSp>
        <p:nvCxnSpPr>
          <p:cNvPr id="14" name="Straight Arrow Connector 13">
            <a:extLst>
              <a:ext uri="{FF2B5EF4-FFF2-40B4-BE49-F238E27FC236}">
                <a16:creationId xmlns:a16="http://schemas.microsoft.com/office/drawing/2014/main" id="{97D7869E-17C5-4555-BFF4-B3B776A34B4C}"/>
              </a:ext>
            </a:extLst>
          </p:cNvPr>
          <p:cNvCxnSpPr>
            <a:cxnSpLocks/>
          </p:cNvCxnSpPr>
          <p:nvPr/>
        </p:nvCxnSpPr>
        <p:spPr>
          <a:xfrm>
            <a:off x="5413717" y="3713871"/>
            <a:ext cx="136456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0830DFA-E587-4877-93D6-82CA0665D092}"/>
              </a:ext>
            </a:extLst>
          </p:cNvPr>
          <p:cNvSpPr txBox="1"/>
          <p:nvPr/>
        </p:nvSpPr>
        <p:spPr>
          <a:xfrm>
            <a:off x="4346917" y="5839768"/>
            <a:ext cx="6590713" cy="461665"/>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Ready for SQL import</a:t>
            </a:r>
          </a:p>
        </p:txBody>
      </p:sp>
    </p:spTree>
    <p:extLst>
      <p:ext uri="{BB962C8B-B14F-4D97-AF65-F5344CB8AC3E}">
        <p14:creationId xmlns:p14="http://schemas.microsoft.com/office/powerpoint/2010/main" val="3702124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52DA2-1CB0-4761-A4FF-2321AD726296}"/>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a16="http://schemas.microsoft.com/office/drawing/2014/main" id="{DC097E68-B4FD-4F46-BD63-0EB454D61275}"/>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0" y="-113341"/>
            <a:ext cx="12320542" cy="6971341"/>
          </a:xfrm>
          <a:prstGeom prst="rect">
            <a:avLst/>
          </a:prstGeom>
        </p:spPr>
      </p:pic>
      <p:sp>
        <p:nvSpPr>
          <p:cNvPr id="6" name="TextBox 5">
            <a:extLst>
              <a:ext uri="{FF2B5EF4-FFF2-40B4-BE49-F238E27FC236}">
                <a16:creationId xmlns:a16="http://schemas.microsoft.com/office/drawing/2014/main" id="{FACAB28A-6282-4750-92CD-8F10E5A853E0}"/>
              </a:ext>
            </a:extLst>
          </p:cNvPr>
          <p:cNvSpPr txBox="1"/>
          <p:nvPr/>
        </p:nvSpPr>
        <p:spPr>
          <a:xfrm>
            <a:off x="365759" y="859691"/>
            <a:ext cx="11221329" cy="830997"/>
          </a:xfrm>
          <a:prstGeom prst="rect">
            <a:avLst/>
          </a:prstGeom>
          <a:noFill/>
        </p:spPr>
        <p:txBody>
          <a:bodyPr wrap="square" rtlCol="0">
            <a:spAutoFit/>
          </a:bodyPr>
          <a:lstStyle/>
          <a:p>
            <a:r>
              <a:rPr lang="en-IN" sz="4800" b="1" dirty="0">
                <a:latin typeface="Times New Roman" panose="02020603050405020304" pitchFamily="18" charset="0"/>
                <a:cs typeface="Times New Roman" panose="02020603050405020304" pitchFamily="18" charset="0"/>
              </a:rPr>
              <a:t>SQL – Database Creation &amp; Verification</a:t>
            </a:r>
          </a:p>
        </p:txBody>
      </p:sp>
      <p:sp>
        <p:nvSpPr>
          <p:cNvPr id="7" name="TextBox 6">
            <a:extLst>
              <a:ext uri="{FF2B5EF4-FFF2-40B4-BE49-F238E27FC236}">
                <a16:creationId xmlns:a16="http://schemas.microsoft.com/office/drawing/2014/main" id="{8776EA47-428A-438B-9519-42E4FA8F4717}"/>
              </a:ext>
            </a:extLst>
          </p:cNvPr>
          <p:cNvSpPr txBox="1"/>
          <p:nvPr/>
        </p:nvSpPr>
        <p:spPr>
          <a:xfrm flipH="1">
            <a:off x="970671" y="1931768"/>
            <a:ext cx="11221329" cy="2465290"/>
          </a:xfrm>
          <a:prstGeom prst="rect">
            <a:avLst/>
          </a:prstGeom>
          <a:noFill/>
        </p:spPr>
        <p:txBody>
          <a:bodyPr wrap="square" rtlCol="0">
            <a:spAutoFit/>
          </a:bodyPr>
          <a:lstStyle/>
          <a:p>
            <a:pPr lvl="0" algn="just">
              <a:lnSpc>
                <a:spcPct val="115000"/>
              </a:lnSpc>
              <a:spcBef>
                <a:spcPts val="1200"/>
              </a:spcBef>
              <a:spcAft>
                <a:spcPts val="1200"/>
              </a:spcAft>
            </a:pPr>
            <a:r>
              <a:rPr lang="en-IN" sz="2800" b="1" dirty="0">
                <a:latin typeface="Times New Roman" panose="02020603050405020304" pitchFamily="18" charset="0"/>
                <a:cs typeface="Times New Roman" panose="02020603050405020304" pitchFamily="18" charset="0"/>
              </a:rPr>
              <a:t>Tasks Completed:</a:t>
            </a:r>
            <a:r>
              <a:rPr lang="en-US" sz="2800" dirty="0">
                <a:latin typeface="Times New Roman" panose="02020603050405020304" pitchFamily="18" charset="0"/>
                <a:cs typeface="Times New Roman" panose="02020603050405020304" pitchFamily="18" charset="0"/>
              </a:rPr>
              <a:t>Handled missing values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Created Database: </a:t>
            </a:r>
            <a:r>
              <a:rPr lang="en-US" sz="2800" b="1" dirty="0" err="1">
                <a:latin typeface="Times New Roman" panose="02020603050405020304" pitchFamily="18" charset="0"/>
                <a:cs typeface="Times New Roman" panose="02020603050405020304" pitchFamily="18" charset="0"/>
              </a:rPr>
              <a:t>travel_tourism</a:t>
            </a:r>
            <a:endParaRPr lang="en-US" sz="2800" b="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Created Table: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bookings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all booking and customer fields</a:t>
            </a:r>
          </a:p>
          <a:p>
            <a:pPr marL="457200" indent="-457200">
              <a:buFont typeface="Arial" panose="020B0604020202020204" pitchFamily="34" charset="0"/>
              <a:buChar char="•"/>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Imported Cleaned Excel Data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into MySQL</a:t>
            </a:r>
          </a:p>
          <a:p>
            <a:pPr marL="457200" indent="-457200">
              <a:buFont typeface="Arial" panose="020B0604020202020204" pitchFamily="34" charset="0"/>
              <a:buChar char="•"/>
            </a:pP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Verified Data: </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Checked first few rows for accuracy</a:t>
            </a:r>
          </a:p>
        </p:txBody>
      </p:sp>
      <p:sp>
        <p:nvSpPr>
          <p:cNvPr id="11" name="Rectangle 6">
            <a:extLst>
              <a:ext uri="{FF2B5EF4-FFF2-40B4-BE49-F238E27FC236}">
                <a16:creationId xmlns:a16="http://schemas.microsoft.com/office/drawing/2014/main" id="{225BACCE-6090-4C1D-A6C3-2C27428CECFA}"/>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7">
            <a:extLst>
              <a:ext uri="{FF2B5EF4-FFF2-40B4-BE49-F238E27FC236}">
                <a16:creationId xmlns:a16="http://schemas.microsoft.com/office/drawing/2014/main" id="{BA106579-28F4-4AD2-93B7-ACDF09F4224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26265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52DA2-1CB0-4761-A4FF-2321AD726296}"/>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a16="http://schemas.microsoft.com/office/drawing/2014/main" id="{DC097E68-B4FD-4F46-BD63-0EB454D61275}"/>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0" y="-113341"/>
            <a:ext cx="12320542" cy="6971341"/>
          </a:xfrm>
          <a:prstGeom prst="rect">
            <a:avLst/>
          </a:prstGeom>
        </p:spPr>
      </p:pic>
      <p:sp>
        <p:nvSpPr>
          <p:cNvPr id="6" name="TextBox 5">
            <a:extLst>
              <a:ext uri="{FF2B5EF4-FFF2-40B4-BE49-F238E27FC236}">
                <a16:creationId xmlns:a16="http://schemas.microsoft.com/office/drawing/2014/main" id="{FACAB28A-6282-4750-92CD-8F10E5A853E0}"/>
              </a:ext>
            </a:extLst>
          </p:cNvPr>
          <p:cNvSpPr txBox="1"/>
          <p:nvPr/>
        </p:nvSpPr>
        <p:spPr>
          <a:xfrm>
            <a:off x="365759" y="859691"/>
            <a:ext cx="11221329" cy="830997"/>
          </a:xfrm>
          <a:prstGeom prst="rect">
            <a:avLst/>
          </a:prstGeom>
          <a:noFill/>
        </p:spPr>
        <p:txBody>
          <a:bodyPr wrap="square" rtlCol="0">
            <a:spAutoFit/>
          </a:bodyPr>
          <a:lstStyle/>
          <a:p>
            <a:r>
              <a:rPr lang="en-IN" sz="4800" dirty="0">
                <a:latin typeface="Times New Roman" panose="02020603050405020304" pitchFamily="18" charset="0"/>
                <a:cs typeface="Times New Roman" panose="02020603050405020304" pitchFamily="18" charset="0"/>
              </a:rPr>
              <a:t>SQL – Derived Column &amp; Analysis</a:t>
            </a:r>
            <a:endParaRPr lang="en-IN" sz="48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776EA47-428A-438B-9519-42E4FA8F4717}"/>
              </a:ext>
            </a:extLst>
          </p:cNvPr>
          <p:cNvSpPr txBox="1"/>
          <p:nvPr/>
        </p:nvSpPr>
        <p:spPr>
          <a:xfrm flipH="1">
            <a:off x="838200" y="1931768"/>
            <a:ext cx="11353800" cy="3822585"/>
          </a:xfrm>
          <a:prstGeom prst="rect">
            <a:avLst/>
          </a:prstGeom>
          <a:noFill/>
        </p:spPr>
        <p:txBody>
          <a:bodyPr wrap="square" rtlCol="0">
            <a:spAutoFit/>
          </a:bodyPr>
          <a:lstStyle/>
          <a:p>
            <a:pPr lvl="0" algn="just">
              <a:lnSpc>
                <a:spcPct val="115000"/>
              </a:lnSpc>
              <a:spcBef>
                <a:spcPts val="1200"/>
              </a:spcBef>
              <a:spcAft>
                <a:spcPts val="1200"/>
              </a:spcAft>
            </a:pPr>
            <a:r>
              <a:rPr lang="en-US" sz="2800" b="1" dirty="0">
                <a:latin typeface="Times New Roman" panose="02020603050405020304" pitchFamily="18" charset="0"/>
                <a:cs typeface="Times New Roman" panose="02020603050405020304" pitchFamily="18" charset="0"/>
              </a:rPr>
              <a:t>Purpose: </a:t>
            </a:r>
            <a:r>
              <a:rPr lang="en-US" sz="2800" dirty="0">
                <a:latin typeface="Times New Roman" panose="02020603050405020304" pitchFamily="18" charset="0"/>
                <a:cs typeface="Times New Roman" panose="02020603050405020304" pitchFamily="18" charset="0"/>
              </a:rPr>
              <a:t>To prepare analysis-ready data and calculate </a:t>
            </a:r>
            <a:r>
              <a:rPr lang="en-US" sz="2800" b="1" dirty="0">
                <a:latin typeface="Times New Roman" panose="02020603050405020304" pitchFamily="18" charset="0"/>
                <a:cs typeface="Times New Roman" panose="02020603050405020304" pitchFamily="18" charset="0"/>
              </a:rPr>
              <a:t>revenue</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per traveler </a:t>
            </a:r>
            <a:r>
              <a:rPr lang="en-US" sz="2800" dirty="0">
                <a:latin typeface="Times New Roman" panose="02020603050405020304" pitchFamily="18" charset="0"/>
                <a:cs typeface="Times New Roman" panose="02020603050405020304" pitchFamily="18" charset="0"/>
              </a:rPr>
              <a:t>for deeper insights.</a:t>
            </a:r>
          </a:p>
          <a:p>
            <a:pPr algn="just"/>
            <a:r>
              <a:rPr lang="en-US" sz="2800" dirty="0">
                <a:latin typeface="Times New Roman" panose="02020603050405020304" pitchFamily="18" charset="0"/>
                <a:cs typeface="Times New Roman" panose="02020603050405020304" pitchFamily="18" charset="0"/>
              </a:rPr>
              <a:t>ALTER TABLE bookings</a:t>
            </a:r>
          </a:p>
          <a:p>
            <a:pPr algn="just"/>
            <a:r>
              <a:rPr lang="en-US" sz="2800" dirty="0">
                <a:latin typeface="Times New Roman" panose="02020603050405020304" pitchFamily="18" charset="0"/>
                <a:cs typeface="Times New Roman" panose="02020603050405020304" pitchFamily="18" charset="0"/>
              </a:rPr>
              <a:t>ADD </a:t>
            </a:r>
            <a:r>
              <a:rPr lang="en-US" sz="2800" dirty="0" err="1">
                <a:latin typeface="Times New Roman" panose="02020603050405020304" pitchFamily="18" charset="0"/>
                <a:cs typeface="Times New Roman" panose="02020603050405020304" pitchFamily="18" charset="0"/>
              </a:rPr>
              <a:t>revenue_per_traveler</a:t>
            </a:r>
            <a:r>
              <a:rPr lang="en-US" sz="2800" dirty="0">
                <a:latin typeface="Times New Roman" panose="02020603050405020304" pitchFamily="18" charset="0"/>
                <a:cs typeface="Times New Roman" panose="02020603050405020304" pitchFamily="18" charset="0"/>
              </a:rPr>
              <a:t> DECIMAL(12,4);</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UPDATE bookings</a:t>
            </a:r>
          </a:p>
          <a:p>
            <a:r>
              <a:rPr lang="en-US" sz="2800" dirty="0">
                <a:latin typeface="Times New Roman" panose="02020603050405020304" pitchFamily="18" charset="0"/>
                <a:cs typeface="Times New Roman" panose="02020603050405020304" pitchFamily="18" charset="0"/>
              </a:rPr>
              <a:t>SET </a:t>
            </a:r>
            <a:r>
              <a:rPr lang="en-US" sz="2800" dirty="0" err="1">
                <a:latin typeface="Times New Roman" panose="02020603050405020304" pitchFamily="18" charset="0"/>
                <a:cs typeface="Times New Roman" panose="02020603050405020304" pitchFamily="18" charset="0"/>
              </a:rPr>
              <a:t>revenue_per_traveler</a:t>
            </a:r>
            <a:r>
              <a:rPr lang="en-US" sz="2800" dirty="0">
                <a:latin typeface="Times New Roman" panose="02020603050405020304" pitchFamily="18" charset="0"/>
                <a:cs typeface="Times New Roman" panose="02020603050405020304" pitchFamily="18" charset="0"/>
              </a:rPr>
              <a:t> = ROUND(</a:t>
            </a:r>
            <a:r>
              <a:rPr lang="en-US" sz="2800" dirty="0" err="1">
                <a:latin typeface="Times New Roman" panose="02020603050405020304" pitchFamily="18" charset="0"/>
                <a:cs typeface="Times New Roman" panose="02020603050405020304" pitchFamily="18" charset="0"/>
              </a:rPr>
              <a:t>total_revenue</a:t>
            </a:r>
            <a:r>
              <a:rPr lang="en-US" sz="2800" dirty="0">
                <a:latin typeface="Times New Roman" panose="02020603050405020304" pitchFamily="18" charset="0"/>
                <a:cs typeface="Times New Roman" panose="02020603050405020304" pitchFamily="18" charset="0"/>
              </a:rPr>
              <a:t> / </a:t>
            </a:r>
            <a:r>
              <a:rPr lang="en-US" sz="2800" dirty="0" err="1">
                <a:latin typeface="Times New Roman" panose="02020603050405020304" pitchFamily="18" charset="0"/>
                <a:cs typeface="Times New Roman" panose="02020603050405020304" pitchFamily="18" charset="0"/>
              </a:rPr>
              <a:t>number_of_travelers</a:t>
            </a:r>
            <a:r>
              <a:rPr lang="en-US" sz="2800" dirty="0">
                <a:latin typeface="Times New Roman" panose="02020603050405020304" pitchFamily="18" charset="0"/>
                <a:cs typeface="Times New Roman" panose="02020603050405020304" pitchFamily="18" charset="0"/>
              </a:rPr>
              <a:t>, 4)</a:t>
            </a:r>
          </a:p>
          <a:p>
            <a:r>
              <a:rPr lang="en-US" sz="2800" dirty="0">
                <a:latin typeface="Times New Roman" panose="02020603050405020304" pitchFamily="18" charset="0"/>
                <a:cs typeface="Times New Roman" panose="02020603050405020304" pitchFamily="18" charset="0"/>
              </a:rPr>
              <a:t>WHERE </a:t>
            </a:r>
            <a:r>
              <a:rPr lang="en-US" sz="2800" dirty="0" err="1">
                <a:latin typeface="Times New Roman" panose="02020603050405020304" pitchFamily="18" charset="0"/>
                <a:cs typeface="Times New Roman" panose="02020603050405020304" pitchFamily="18" charset="0"/>
              </a:rPr>
              <a:t>booking_id</a:t>
            </a:r>
            <a:r>
              <a:rPr lang="en-US" sz="2800" dirty="0">
                <a:latin typeface="Times New Roman" panose="02020603050405020304" pitchFamily="18" charset="0"/>
                <a:cs typeface="Times New Roman" panose="02020603050405020304" pitchFamily="18" charset="0"/>
              </a:rPr>
              <a:t> &gt; 0;</a:t>
            </a:r>
          </a:p>
        </p:txBody>
      </p:sp>
      <p:sp>
        <p:nvSpPr>
          <p:cNvPr id="11" name="Rectangle 6">
            <a:extLst>
              <a:ext uri="{FF2B5EF4-FFF2-40B4-BE49-F238E27FC236}">
                <a16:creationId xmlns:a16="http://schemas.microsoft.com/office/drawing/2014/main" id="{225BACCE-6090-4C1D-A6C3-2C27428CECFA}"/>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7">
            <a:extLst>
              <a:ext uri="{FF2B5EF4-FFF2-40B4-BE49-F238E27FC236}">
                <a16:creationId xmlns:a16="http://schemas.microsoft.com/office/drawing/2014/main" id="{BA106579-28F4-4AD2-93B7-ACDF09F4224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95169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52DA2-1CB0-4761-A4FF-2321AD726296}"/>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a16="http://schemas.microsoft.com/office/drawing/2014/main" id="{DC097E68-B4FD-4F46-BD63-0EB454D61275}"/>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0" y="-113341"/>
            <a:ext cx="12320542" cy="6971341"/>
          </a:xfrm>
          <a:prstGeom prst="rect">
            <a:avLst/>
          </a:prstGeom>
        </p:spPr>
      </p:pic>
      <p:sp>
        <p:nvSpPr>
          <p:cNvPr id="6" name="TextBox 5">
            <a:extLst>
              <a:ext uri="{FF2B5EF4-FFF2-40B4-BE49-F238E27FC236}">
                <a16:creationId xmlns:a16="http://schemas.microsoft.com/office/drawing/2014/main" id="{FACAB28A-6282-4750-92CD-8F10E5A853E0}"/>
              </a:ext>
            </a:extLst>
          </p:cNvPr>
          <p:cNvSpPr txBox="1"/>
          <p:nvPr/>
        </p:nvSpPr>
        <p:spPr>
          <a:xfrm>
            <a:off x="365759" y="859691"/>
            <a:ext cx="11221329" cy="830997"/>
          </a:xfrm>
          <a:prstGeom prst="rect">
            <a:avLst/>
          </a:prstGeom>
          <a:noFill/>
        </p:spPr>
        <p:txBody>
          <a:bodyPr wrap="square" rtlCol="0">
            <a:spAutoFit/>
          </a:bodyPr>
          <a:lstStyle/>
          <a:p>
            <a:r>
              <a:rPr lang="en-IN" sz="4800" b="1" dirty="0">
                <a:latin typeface="Times New Roman" panose="02020603050405020304" pitchFamily="18" charset="0"/>
                <a:cs typeface="Times New Roman" panose="02020603050405020304" pitchFamily="18" charset="0"/>
              </a:rPr>
              <a:t>SQL – Derived Column &amp; Analysis</a:t>
            </a:r>
          </a:p>
        </p:txBody>
      </p:sp>
      <p:sp>
        <p:nvSpPr>
          <p:cNvPr id="7" name="TextBox 6">
            <a:extLst>
              <a:ext uri="{FF2B5EF4-FFF2-40B4-BE49-F238E27FC236}">
                <a16:creationId xmlns:a16="http://schemas.microsoft.com/office/drawing/2014/main" id="{8776EA47-428A-438B-9519-42E4FA8F4717}"/>
              </a:ext>
            </a:extLst>
          </p:cNvPr>
          <p:cNvSpPr txBox="1"/>
          <p:nvPr/>
        </p:nvSpPr>
        <p:spPr>
          <a:xfrm flipH="1">
            <a:off x="838200" y="1931768"/>
            <a:ext cx="11353800" cy="4684359"/>
          </a:xfrm>
          <a:prstGeom prst="rect">
            <a:avLst/>
          </a:prstGeom>
          <a:noFill/>
        </p:spPr>
        <p:txBody>
          <a:bodyPr wrap="square" rtlCol="0">
            <a:spAutoFit/>
          </a:bodyPr>
          <a:lstStyle/>
          <a:p>
            <a:pPr lvl="0" algn="just">
              <a:lnSpc>
                <a:spcPct val="115000"/>
              </a:lnSpc>
              <a:spcBef>
                <a:spcPts val="1200"/>
              </a:spcBef>
              <a:spcAft>
                <a:spcPts val="1200"/>
              </a:spcAft>
            </a:pPr>
            <a:r>
              <a:rPr lang="en-US" sz="2800" b="1" dirty="0">
                <a:latin typeface="Times New Roman" panose="02020603050405020304" pitchFamily="18" charset="0"/>
                <a:cs typeface="Times New Roman" panose="02020603050405020304" pitchFamily="18" charset="0"/>
              </a:rPr>
              <a:t>Purpose: </a:t>
            </a:r>
            <a:r>
              <a:rPr lang="en-US" sz="2800" dirty="0">
                <a:latin typeface="Times New Roman" panose="02020603050405020304" pitchFamily="18" charset="0"/>
                <a:cs typeface="Times New Roman" panose="02020603050405020304" pitchFamily="18" charset="0"/>
              </a:rPr>
              <a:t>To prepare analysis-ready data and calculate </a:t>
            </a:r>
            <a:r>
              <a:rPr lang="en-US" sz="2800" b="1" dirty="0">
                <a:latin typeface="Times New Roman" panose="02020603050405020304" pitchFamily="18" charset="0"/>
                <a:cs typeface="Times New Roman" panose="02020603050405020304" pitchFamily="18" charset="0"/>
              </a:rPr>
              <a:t>revenue</a:t>
            </a: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per traveler </a:t>
            </a:r>
            <a:r>
              <a:rPr lang="en-US" sz="2800" dirty="0">
                <a:latin typeface="Times New Roman" panose="02020603050405020304" pitchFamily="18" charset="0"/>
                <a:cs typeface="Times New Roman" panose="02020603050405020304" pitchFamily="18" charset="0"/>
              </a:rPr>
              <a:t>for deeper insights.</a:t>
            </a:r>
          </a:p>
          <a:p>
            <a:pPr algn="just"/>
            <a:r>
              <a:rPr lang="en-US" sz="2800" dirty="0">
                <a:latin typeface="Times New Roman" panose="02020603050405020304" pitchFamily="18" charset="0"/>
                <a:cs typeface="Times New Roman" panose="02020603050405020304" pitchFamily="18" charset="0"/>
              </a:rPr>
              <a:t>ALTER TABLE bookings</a:t>
            </a:r>
          </a:p>
          <a:p>
            <a:pPr algn="just"/>
            <a:r>
              <a:rPr lang="en-US" sz="2800" dirty="0">
                <a:latin typeface="Times New Roman" panose="02020603050405020304" pitchFamily="18" charset="0"/>
                <a:cs typeface="Times New Roman" panose="02020603050405020304" pitchFamily="18" charset="0"/>
              </a:rPr>
              <a:t>ADD </a:t>
            </a:r>
            <a:r>
              <a:rPr lang="en-US" sz="2800" dirty="0" err="1">
                <a:latin typeface="Times New Roman" panose="02020603050405020304" pitchFamily="18" charset="0"/>
                <a:cs typeface="Times New Roman" panose="02020603050405020304" pitchFamily="18" charset="0"/>
              </a:rPr>
              <a:t>revenue_per_traveler</a:t>
            </a:r>
            <a:r>
              <a:rPr lang="en-US" sz="2800" dirty="0">
                <a:latin typeface="Times New Roman" panose="02020603050405020304" pitchFamily="18" charset="0"/>
                <a:cs typeface="Times New Roman" panose="02020603050405020304" pitchFamily="18" charset="0"/>
              </a:rPr>
              <a:t> DECIMAL(12,4);</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UPDATE bookings</a:t>
            </a:r>
          </a:p>
          <a:p>
            <a:r>
              <a:rPr lang="en-US" sz="2800" dirty="0">
                <a:latin typeface="Times New Roman" panose="02020603050405020304" pitchFamily="18" charset="0"/>
                <a:cs typeface="Times New Roman" panose="02020603050405020304" pitchFamily="18" charset="0"/>
              </a:rPr>
              <a:t>SET </a:t>
            </a:r>
            <a:r>
              <a:rPr lang="en-US" sz="2800" dirty="0" err="1">
                <a:latin typeface="Times New Roman" panose="02020603050405020304" pitchFamily="18" charset="0"/>
                <a:cs typeface="Times New Roman" panose="02020603050405020304" pitchFamily="18" charset="0"/>
              </a:rPr>
              <a:t>revenue_per_traveler</a:t>
            </a:r>
            <a:r>
              <a:rPr lang="en-US" sz="2800" dirty="0">
                <a:latin typeface="Times New Roman" panose="02020603050405020304" pitchFamily="18" charset="0"/>
                <a:cs typeface="Times New Roman" panose="02020603050405020304" pitchFamily="18" charset="0"/>
              </a:rPr>
              <a:t> = ROUND(</a:t>
            </a:r>
            <a:r>
              <a:rPr lang="en-US" sz="2800" dirty="0" err="1">
                <a:latin typeface="Times New Roman" panose="02020603050405020304" pitchFamily="18" charset="0"/>
                <a:cs typeface="Times New Roman" panose="02020603050405020304" pitchFamily="18" charset="0"/>
              </a:rPr>
              <a:t>total_revenue</a:t>
            </a:r>
            <a:r>
              <a:rPr lang="en-US" sz="2800" dirty="0">
                <a:latin typeface="Times New Roman" panose="02020603050405020304" pitchFamily="18" charset="0"/>
                <a:cs typeface="Times New Roman" panose="02020603050405020304" pitchFamily="18" charset="0"/>
              </a:rPr>
              <a:t> / </a:t>
            </a:r>
            <a:r>
              <a:rPr lang="en-US" sz="2800" dirty="0" err="1">
                <a:latin typeface="Times New Roman" panose="02020603050405020304" pitchFamily="18" charset="0"/>
                <a:cs typeface="Times New Roman" panose="02020603050405020304" pitchFamily="18" charset="0"/>
              </a:rPr>
              <a:t>number_of_travelers</a:t>
            </a:r>
            <a:r>
              <a:rPr lang="en-US" sz="2800" dirty="0">
                <a:latin typeface="Times New Roman" panose="02020603050405020304" pitchFamily="18" charset="0"/>
                <a:cs typeface="Times New Roman" panose="02020603050405020304" pitchFamily="18" charset="0"/>
              </a:rPr>
              <a:t>, 4)</a:t>
            </a:r>
          </a:p>
          <a:p>
            <a:r>
              <a:rPr lang="en-US" sz="2800" dirty="0">
                <a:latin typeface="Times New Roman" panose="02020603050405020304" pitchFamily="18" charset="0"/>
                <a:cs typeface="Times New Roman" panose="02020603050405020304" pitchFamily="18" charset="0"/>
              </a:rPr>
              <a:t>WHERE </a:t>
            </a:r>
            <a:r>
              <a:rPr lang="en-US" sz="2800" dirty="0" err="1">
                <a:latin typeface="Times New Roman" panose="02020603050405020304" pitchFamily="18" charset="0"/>
                <a:cs typeface="Times New Roman" panose="02020603050405020304" pitchFamily="18" charset="0"/>
              </a:rPr>
              <a:t>booking_id</a:t>
            </a:r>
            <a:r>
              <a:rPr lang="en-US" sz="2800" dirty="0">
                <a:latin typeface="Times New Roman" panose="02020603050405020304" pitchFamily="18" charset="0"/>
                <a:cs typeface="Times New Roman" panose="02020603050405020304" pitchFamily="18" charset="0"/>
              </a:rPr>
              <a:t> &gt; 0;</a:t>
            </a:r>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Verified Derived Column ----&gt; MySQL</a:t>
            </a:r>
            <a:endParaRPr lang="en-US" sz="2800" dirty="0">
              <a:latin typeface="Times New Roman" panose="02020603050405020304" pitchFamily="18" charset="0"/>
              <a:cs typeface="Times New Roman" panose="02020603050405020304" pitchFamily="18" charset="0"/>
            </a:endParaRPr>
          </a:p>
        </p:txBody>
      </p:sp>
      <p:sp>
        <p:nvSpPr>
          <p:cNvPr id="11" name="Rectangle 6">
            <a:extLst>
              <a:ext uri="{FF2B5EF4-FFF2-40B4-BE49-F238E27FC236}">
                <a16:creationId xmlns:a16="http://schemas.microsoft.com/office/drawing/2014/main" id="{225BACCE-6090-4C1D-A6C3-2C27428CECFA}"/>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7">
            <a:extLst>
              <a:ext uri="{FF2B5EF4-FFF2-40B4-BE49-F238E27FC236}">
                <a16:creationId xmlns:a16="http://schemas.microsoft.com/office/drawing/2014/main" id="{BA106579-28F4-4AD2-93B7-ACDF09F4224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19283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52DA2-1CB0-4761-A4FF-2321AD726296}"/>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a16="http://schemas.microsoft.com/office/drawing/2014/main" id="{DC097E68-B4FD-4F46-BD63-0EB454D61275}"/>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0" y="-113341"/>
            <a:ext cx="12320542" cy="6971341"/>
          </a:xfrm>
          <a:prstGeom prst="rect">
            <a:avLst/>
          </a:prstGeom>
        </p:spPr>
      </p:pic>
      <p:sp>
        <p:nvSpPr>
          <p:cNvPr id="6" name="TextBox 5">
            <a:extLst>
              <a:ext uri="{FF2B5EF4-FFF2-40B4-BE49-F238E27FC236}">
                <a16:creationId xmlns:a16="http://schemas.microsoft.com/office/drawing/2014/main" id="{FACAB28A-6282-4750-92CD-8F10E5A853E0}"/>
              </a:ext>
            </a:extLst>
          </p:cNvPr>
          <p:cNvSpPr txBox="1"/>
          <p:nvPr/>
        </p:nvSpPr>
        <p:spPr>
          <a:xfrm>
            <a:off x="365759" y="859691"/>
            <a:ext cx="11221329" cy="830997"/>
          </a:xfrm>
          <a:prstGeom prst="rect">
            <a:avLst/>
          </a:prstGeom>
          <a:noFill/>
        </p:spPr>
        <p:txBody>
          <a:bodyPr wrap="square" rtlCol="0">
            <a:spAutoFit/>
          </a:bodyPr>
          <a:lstStyle/>
          <a:p>
            <a:r>
              <a:rPr lang="en-IN" sz="4800" b="1" dirty="0">
                <a:latin typeface="Times New Roman" panose="02020603050405020304" pitchFamily="18" charset="0"/>
                <a:cs typeface="Times New Roman" panose="02020603050405020304" pitchFamily="18" charset="0"/>
              </a:rPr>
              <a:t>SQL – Performance Analysis:</a:t>
            </a:r>
          </a:p>
        </p:txBody>
      </p:sp>
      <p:sp>
        <p:nvSpPr>
          <p:cNvPr id="7" name="TextBox 6">
            <a:extLst>
              <a:ext uri="{FF2B5EF4-FFF2-40B4-BE49-F238E27FC236}">
                <a16:creationId xmlns:a16="http://schemas.microsoft.com/office/drawing/2014/main" id="{8776EA47-428A-438B-9519-42E4FA8F4717}"/>
              </a:ext>
            </a:extLst>
          </p:cNvPr>
          <p:cNvSpPr txBox="1"/>
          <p:nvPr/>
        </p:nvSpPr>
        <p:spPr>
          <a:xfrm flipH="1">
            <a:off x="2365305" y="2325664"/>
            <a:ext cx="9955237" cy="2968633"/>
          </a:xfrm>
          <a:prstGeom prst="rect">
            <a:avLst/>
          </a:prstGeom>
          <a:noFill/>
        </p:spPr>
        <p:txBody>
          <a:bodyPr wrap="square" rtlCol="0">
            <a:spAutoFit/>
          </a:bodyPr>
          <a:lstStyle/>
          <a:p>
            <a:pPr marL="457200" lvl="0" indent="-457200" algn="just">
              <a:lnSpc>
                <a:spcPct val="115000"/>
              </a:lnSpc>
              <a:spcBef>
                <a:spcPts val="1200"/>
              </a:spcBef>
              <a:spcAft>
                <a:spcPts val="120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Total Revenue </a:t>
            </a:r>
          </a:p>
          <a:p>
            <a:pPr marL="457200" lvl="0" indent="-457200" algn="just">
              <a:lnSpc>
                <a:spcPct val="115000"/>
              </a:lnSpc>
              <a:spcBef>
                <a:spcPts val="1200"/>
              </a:spcBef>
              <a:spcAft>
                <a:spcPts val="120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Revenue by Destination</a:t>
            </a:r>
          </a:p>
          <a:p>
            <a:pPr marL="457200" lvl="0" indent="-457200" algn="just">
              <a:lnSpc>
                <a:spcPct val="115000"/>
              </a:lnSpc>
              <a:spcBef>
                <a:spcPts val="1200"/>
              </a:spcBef>
              <a:spcAft>
                <a:spcPts val="120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Season-wise Bookings </a:t>
            </a:r>
          </a:p>
          <a:p>
            <a:pPr marL="457200" lvl="0" indent="-457200" algn="just">
              <a:lnSpc>
                <a:spcPct val="115000"/>
              </a:lnSpc>
              <a:spcBef>
                <a:spcPts val="1200"/>
              </a:spcBef>
              <a:spcAft>
                <a:spcPts val="120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Booking Channel Performance</a:t>
            </a:r>
          </a:p>
        </p:txBody>
      </p:sp>
      <p:sp>
        <p:nvSpPr>
          <p:cNvPr id="11" name="Rectangle 6">
            <a:extLst>
              <a:ext uri="{FF2B5EF4-FFF2-40B4-BE49-F238E27FC236}">
                <a16:creationId xmlns:a16="http://schemas.microsoft.com/office/drawing/2014/main" id="{225BACCE-6090-4C1D-A6C3-2C27428CECFA}"/>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7">
            <a:extLst>
              <a:ext uri="{FF2B5EF4-FFF2-40B4-BE49-F238E27FC236}">
                <a16:creationId xmlns:a16="http://schemas.microsoft.com/office/drawing/2014/main" id="{BA106579-28F4-4AD2-93B7-ACDF09F4224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5370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52DA2-1CB0-4761-A4FF-2321AD726296}"/>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a16="http://schemas.microsoft.com/office/drawing/2014/main" id="{DC097E68-B4FD-4F46-BD63-0EB454D61275}"/>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0" y="-113341"/>
            <a:ext cx="12320542" cy="6971341"/>
          </a:xfrm>
          <a:prstGeom prst="rect">
            <a:avLst/>
          </a:prstGeom>
        </p:spPr>
      </p:pic>
      <p:sp>
        <p:nvSpPr>
          <p:cNvPr id="6" name="TextBox 5">
            <a:extLst>
              <a:ext uri="{FF2B5EF4-FFF2-40B4-BE49-F238E27FC236}">
                <a16:creationId xmlns:a16="http://schemas.microsoft.com/office/drawing/2014/main" id="{FACAB28A-6282-4750-92CD-8F10E5A853E0}"/>
              </a:ext>
            </a:extLst>
          </p:cNvPr>
          <p:cNvSpPr txBox="1"/>
          <p:nvPr/>
        </p:nvSpPr>
        <p:spPr>
          <a:xfrm>
            <a:off x="365759" y="859691"/>
            <a:ext cx="11221329" cy="830997"/>
          </a:xfrm>
          <a:prstGeom prst="rect">
            <a:avLst/>
          </a:prstGeom>
          <a:noFill/>
        </p:spPr>
        <p:txBody>
          <a:bodyPr wrap="square" rtlCol="0">
            <a:spAutoFit/>
          </a:bodyPr>
          <a:lstStyle/>
          <a:p>
            <a:r>
              <a:rPr lang="en-IN" sz="4800" b="1" dirty="0">
                <a:latin typeface="Times New Roman" panose="02020603050405020304" pitchFamily="18" charset="0"/>
                <a:cs typeface="Times New Roman" panose="02020603050405020304" pitchFamily="18" charset="0"/>
              </a:rPr>
              <a:t>SQL – Statistical Analysis</a:t>
            </a:r>
          </a:p>
        </p:txBody>
      </p:sp>
      <p:sp>
        <p:nvSpPr>
          <p:cNvPr id="7" name="TextBox 6">
            <a:extLst>
              <a:ext uri="{FF2B5EF4-FFF2-40B4-BE49-F238E27FC236}">
                <a16:creationId xmlns:a16="http://schemas.microsoft.com/office/drawing/2014/main" id="{8776EA47-428A-438B-9519-42E4FA8F4717}"/>
              </a:ext>
            </a:extLst>
          </p:cNvPr>
          <p:cNvSpPr txBox="1"/>
          <p:nvPr/>
        </p:nvSpPr>
        <p:spPr>
          <a:xfrm flipH="1">
            <a:off x="2041748" y="1910707"/>
            <a:ext cx="9955237" cy="4564583"/>
          </a:xfrm>
          <a:prstGeom prst="rect">
            <a:avLst/>
          </a:prstGeom>
          <a:noFill/>
        </p:spPr>
        <p:txBody>
          <a:bodyPr wrap="square" rtlCol="0">
            <a:spAutoFit/>
          </a:bodyPr>
          <a:lstStyle/>
          <a:p>
            <a:pPr lvl="0" algn="just">
              <a:lnSpc>
                <a:spcPct val="115000"/>
              </a:lnSpc>
              <a:spcBef>
                <a:spcPts val="1200"/>
              </a:spcBef>
              <a:spcAft>
                <a:spcPts val="1200"/>
              </a:spcAft>
            </a:pPr>
            <a:r>
              <a:rPr lang="en-US" sz="2800" dirty="0">
                <a:latin typeface="Times New Roman" panose="02020603050405020304" pitchFamily="18" charset="0"/>
                <a:cs typeface="Times New Roman" panose="02020603050405020304" pitchFamily="18" charset="0"/>
              </a:rPr>
              <a:t>SELECT </a:t>
            </a:r>
          </a:p>
          <a:p>
            <a:pPr lvl="0" algn="just">
              <a:lnSpc>
                <a:spcPct val="115000"/>
              </a:lnSpc>
              <a:spcBef>
                <a:spcPts val="1200"/>
              </a:spcBef>
              <a:spcAft>
                <a:spcPts val="1200"/>
              </a:spcAft>
            </a:pPr>
            <a:r>
              <a:rPr lang="en-US" sz="2800" dirty="0">
                <a:latin typeface="Times New Roman" panose="02020603050405020304" pitchFamily="18" charset="0"/>
                <a:cs typeface="Times New Roman" panose="02020603050405020304" pitchFamily="18" charset="0"/>
              </a:rPr>
              <a:t>    AVG(</a:t>
            </a:r>
            <a:r>
              <a:rPr lang="en-US" sz="2800" dirty="0" err="1">
                <a:latin typeface="Times New Roman" panose="02020603050405020304" pitchFamily="18" charset="0"/>
                <a:cs typeface="Times New Roman" panose="02020603050405020304" pitchFamily="18" charset="0"/>
              </a:rPr>
              <a:t>total_revenue</a:t>
            </a:r>
            <a:r>
              <a:rPr lang="en-US" sz="2800" dirty="0">
                <a:latin typeface="Times New Roman" panose="02020603050405020304" pitchFamily="18" charset="0"/>
                <a:cs typeface="Times New Roman" panose="02020603050405020304" pitchFamily="18" charset="0"/>
              </a:rPr>
              <a:t>) AS </a:t>
            </a:r>
            <a:r>
              <a:rPr lang="en-US" sz="2800" dirty="0" err="1">
                <a:latin typeface="Times New Roman" panose="02020603050405020304" pitchFamily="18" charset="0"/>
                <a:cs typeface="Times New Roman" panose="02020603050405020304" pitchFamily="18" charset="0"/>
              </a:rPr>
              <a:t>avg_revenue</a:t>
            </a:r>
            <a:r>
              <a:rPr lang="en-US" sz="2800" dirty="0">
                <a:latin typeface="Times New Roman" panose="02020603050405020304" pitchFamily="18" charset="0"/>
                <a:cs typeface="Times New Roman" panose="02020603050405020304" pitchFamily="18" charset="0"/>
              </a:rPr>
              <a:t>,</a:t>
            </a:r>
          </a:p>
          <a:p>
            <a:pPr lvl="0" algn="just">
              <a:lnSpc>
                <a:spcPct val="115000"/>
              </a:lnSpc>
              <a:spcBef>
                <a:spcPts val="1200"/>
              </a:spcBef>
              <a:spcAft>
                <a:spcPts val="1200"/>
              </a:spcAft>
            </a:pPr>
            <a:r>
              <a:rPr lang="en-US" sz="2800" dirty="0">
                <a:latin typeface="Times New Roman" panose="02020603050405020304" pitchFamily="18" charset="0"/>
                <a:cs typeface="Times New Roman" panose="02020603050405020304" pitchFamily="18" charset="0"/>
              </a:rPr>
              <a:t>    MAX(</a:t>
            </a:r>
            <a:r>
              <a:rPr lang="en-US" sz="2800" dirty="0" err="1">
                <a:latin typeface="Times New Roman" panose="02020603050405020304" pitchFamily="18" charset="0"/>
                <a:cs typeface="Times New Roman" panose="02020603050405020304" pitchFamily="18" charset="0"/>
              </a:rPr>
              <a:t>total_revenue</a:t>
            </a:r>
            <a:r>
              <a:rPr lang="en-US" sz="2800" dirty="0">
                <a:latin typeface="Times New Roman" panose="02020603050405020304" pitchFamily="18" charset="0"/>
                <a:cs typeface="Times New Roman" panose="02020603050405020304" pitchFamily="18" charset="0"/>
              </a:rPr>
              <a:t>) AS </a:t>
            </a:r>
            <a:r>
              <a:rPr lang="en-US" sz="2800" dirty="0" err="1">
                <a:latin typeface="Times New Roman" panose="02020603050405020304" pitchFamily="18" charset="0"/>
                <a:cs typeface="Times New Roman" panose="02020603050405020304" pitchFamily="18" charset="0"/>
              </a:rPr>
              <a:t>max_revenue</a:t>
            </a:r>
            <a:r>
              <a:rPr lang="en-US" sz="2800" dirty="0">
                <a:latin typeface="Times New Roman" panose="02020603050405020304" pitchFamily="18" charset="0"/>
                <a:cs typeface="Times New Roman" panose="02020603050405020304" pitchFamily="18" charset="0"/>
              </a:rPr>
              <a:t>,</a:t>
            </a:r>
          </a:p>
          <a:p>
            <a:pPr lvl="0" algn="just">
              <a:lnSpc>
                <a:spcPct val="115000"/>
              </a:lnSpc>
              <a:spcBef>
                <a:spcPts val="1200"/>
              </a:spcBef>
              <a:spcAft>
                <a:spcPts val="1200"/>
              </a:spcAft>
            </a:pPr>
            <a:r>
              <a:rPr lang="en-US" sz="2800" dirty="0">
                <a:latin typeface="Times New Roman" panose="02020603050405020304" pitchFamily="18" charset="0"/>
                <a:cs typeface="Times New Roman" panose="02020603050405020304" pitchFamily="18" charset="0"/>
              </a:rPr>
              <a:t>    MIN(</a:t>
            </a:r>
            <a:r>
              <a:rPr lang="en-US" sz="2800" dirty="0" err="1">
                <a:latin typeface="Times New Roman" panose="02020603050405020304" pitchFamily="18" charset="0"/>
                <a:cs typeface="Times New Roman" panose="02020603050405020304" pitchFamily="18" charset="0"/>
              </a:rPr>
              <a:t>total_revenue</a:t>
            </a:r>
            <a:r>
              <a:rPr lang="en-US" sz="2800" dirty="0">
                <a:latin typeface="Times New Roman" panose="02020603050405020304" pitchFamily="18" charset="0"/>
                <a:cs typeface="Times New Roman" panose="02020603050405020304" pitchFamily="18" charset="0"/>
              </a:rPr>
              <a:t>) AS </a:t>
            </a:r>
            <a:r>
              <a:rPr lang="en-US" sz="2800" dirty="0" err="1">
                <a:latin typeface="Times New Roman" panose="02020603050405020304" pitchFamily="18" charset="0"/>
                <a:cs typeface="Times New Roman" panose="02020603050405020304" pitchFamily="18" charset="0"/>
              </a:rPr>
              <a:t>min_revenue</a:t>
            </a:r>
            <a:r>
              <a:rPr lang="en-US" sz="2800" dirty="0">
                <a:latin typeface="Times New Roman" panose="02020603050405020304" pitchFamily="18" charset="0"/>
                <a:cs typeface="Times New Roman" panose="02020603050405020304" pitchFamily="18" charset="0"/>
              </a:rPr>
              <a:t>,</a:t>
            </a:r>
          </a:p>
          <a:p>
            <a:pPr lvl="0" algn="just">
              <a:lnSpc>
                <a:spcPct val="115000"/>
              </a:lnSpc>
              <a:spcBef>
                <a:spcPts val="1200"/>
              </a:spcBef>
              <a:spcAft>
                <a:spcPts val="1200"/>
              </a:spcAft>
            </a:pPr>
            <a:r>
              <a:rPr lang="en-US" sz="2800" dirty="0">
                <a:latin typeface="Times New Roman" panose="02020603050405020304" pitchFamily="18" charset="0"/>
                <a:cs typeface="Times New Roman" panose="02020603050405020304" pitchFamily="18" charset="0"/>
              </a:rPr>
              <a:t>    AVG(</a:t>
            </a:r>
            <a:r>
              <a:rPr lang="en-US" sz="2800" dirty="0" err="1">
                <a:latin typeface="Times New Roman" panose="02020603050405020304" pitchFamily="18" charset="0"/>
                <a:cs typeface="Times New Roman" panose="02020603050405020304" pitchFamily="18" charset="0"/>
              </a:rPr>
              <a:t>trip_duration_days</a:t>
            </a:r>
            <a:r>
              <a:rPr lang="en-US" sz="2800" dirty="0">
                <a:latin typeface="Times New Roman" panose="02020603050405020304" pitchFamily="18" charset="0"/>
                <a:cs typeface="Times New Roman" panose="02020603050405020304" pitchFamily="18" charset="0"/>
              </a:rPr>
              <a:t>) AS </a:t>
            </a:r>
            <a:r>
              <a:rPr lang="en-US" sz="2800" dirty="0" err="1">
                <a:latin typeface="Times New Roman" panose="02020603050405020304" pitchFamily="18" charset="0"/>
                <a:cs typeface="Times New Roman" panose="02020603050405020304" pitchFamily="18" charset="0"/>
              </a:rPr>
              <a:t>avg_trip_duration</a:t>
            </a:r>
            <a:endParaRPr lang="en-US" sz="2800" dirty="0">
              <a:latin typeface="Times New Roman" panose="02020603050405020304" pitchFamily="18" charset="0"/>
              <a:cs typeface="Times New Roman" panose="02020603050405020304" pitchFamily="18" charset="0"/>
            </a:endParaRPr>
          </a:p>
          <a:p>
            <a:pPr lvl="0" algn="just">
              <a:lnSpc>
                <a:spcPct val="115000"/>
              </a:lnSpc>
              <a:spcBef>
                <a:spcPts val="1200"/>
              </a:spcBef>
              <a:spcAft>
                <a:spcPts val="1200"/>
              </a:spcAft>
            </a:pPr>
            <a:r>
              <a:rPr lang="en-US" sz="2800" dirty="0">
                <a:latin typeface="Times New Roman" panose="02020603050405020304" pitchFamily="18" charset="0"/>
                <a:cs typeface="Times New Roman" panose="02020603050405020304" pitchFamily="18" charset="0"/>
              </a:rPr>
              <a:t>FROM bookings;</a:t>
            </a:r>
          </a:p>
        </p:txBody>
      </p:sp>
      <p:sp>
        <p:nvSpPr>
          <p:cNvPr id="11" name="Rectangle 6">
            <a:extLst>
              <a:ext uri="{FF2B5EF4-FFF2-40B4-BE49-F238E27FC236}">
                <a16:creationId xmlns:a16="http://schemas.microsoft.com/office/drawing/2014/main" id="{225BACCE-6090-4C1D-A6C3-2C27428CECFA}"/>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7">
            <a:extLst>
              <a:ext uri="{FF2B5EF4-FFF2-40B4-BE49-F238E27FC236}">
                <a16:creationId xmlns:a16="http://schemas.microsoft.com/office/drawing/2014/main" id="{BA106579-28F4-4AD2-93B7-ACDF09F4224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33809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52DA2-1CB0-4761-A4FF-2321AD726296}"/>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a16="http://schemas.microsoft.com/office/drawing/2014/main" id="{DC097E68-B4FD-4F46-BD63-0EB454D61275}"/>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0" y="-113341"/>
            <a:ext cx="12320542" cy="6971341"/>
          </a:xfrm>
          <a:prstGeom prst="rect">
            <a:avLst/>
          </a:prstGeom>
        </p:spPr>
      </p:pic>
      <p:sp>
        <p:nvSpPr>
          <p:cNvPr id="6" name="TextBox 5">
            <a:extLst>
              <a:ext uri="{FF2B5EF4-FFF2-40B4-BE49-F238E27FC236}">
                <a16:creationId xmlns:a16="http://schemas.microsoft.com/office/drawing/2014/main" id="{FACAB28A-6282-4750-92CD-8F10E5A853E0}"/>
              </a:ext>
            </a:extLst>
          </p:cNvPr>
          <p:cNvSpPr txBox="1"/>
          <p:nvPr/>
        </p:nvSpPr>
        <p:spPr>
          <a:xfrm>
            <a:off x="365759" y="859691"/>
            <a:ext cx="11221329" cy="830997"/>
          </a:xfrm>
          <a:prstGeom prst="rect">
            <a:avLst/>
          </a:prstGeom>
          <a:noFill/>
        </p:spPr>
        <p:txBody>
          <a:bodyPr wrap="square" rtlCol="0">
            <a:spAutoFit/>
          </a:bodyPr>
          <a:lstStyle/>
          <a:p>
            <a:r>
              <a:rPr lang="en-US" sz="4800" b="1" dirty="0">
                <a:latin typeface="Times New Roman" panose="02020603050405020304" pitchFamily="18" charset="0"/>
                <a:cs typeface="Times New Roman" panose="02020603050405020304" pitchFamily="18" charset="0"/>
              </a:rPr>
              <a:t>SQL View &amp; Power BI Connection</a:t>
            </a:r>
            <a:endParaRPr lang="en-IN" sz="48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776EA47-428A-438B-9519-42E4FA8F4717}"/>
              </a:ext>
            </a:extLst>
          </p:cNvPr>
          <p:cNvSpPr txBox="1"/>
          <p:nvPr/>
        </p:nvSpPr>
        <p:spPr>
          <a:xfrm flipH="1">
            <a:off x="838199" y="1910707"/>
            <a:ext cx="11353799" cy="440120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Purpose:</a:t>
            </a:r>
            <a:b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Prepare clean data for Power BI dashboards using </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MySQL Connector</a:t>
            </a:r>
            <a:r>
              <a:rPr lang="en-US" altLang="en-US" sz="2800" dirty="0">
                <a:latin typeface="Times New Roman" panose="02020603050405020304" pitchFamily="18" charset="0"/>
                <a:cs typeface="Times New Roman" panose="02020603050405020304" pitchFamily="18" charset="0"/>
              </a:rPr>
              <a:t>.</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Steps: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Created a view </a:t>
            </a:r>
            <a:r>
              <a:rPr kumimoji="0" lang="en-US" altLang="en-US" sz="2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clean_bookings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MySQL:</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CREATE VIEW </a:t>
            </a:r>
            <a:r>
              <a:rPr kumimoji="0" lang="en-US" altLang="en-US" sz="2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clean_bookings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 SELECT * FROM bookings;</a:t>
            </a:r>
          </a:p>
          <a:p>
            <a:pPr marL="0" marR="0" lvl="0" indent="0" algn="l" defTabSz="914400" rtl="0" eaLnBrk="0" fontAlgn="base" latinLnBrk="0" hangingPunct="0">
              <a:lnSpc>
                <a:spcPct val="100000"/>
              </a:lnSpc>
              <a:spcBef>
                <a:spcPct val="0"/>
              </a:spcBef>
              <a:spcAft>
                <a:spcPct val="0"/>
              </a:spcAft>
              <a:buClrTx/>
              <a:buSzTx/>
              <a:tabLst/>
            </a:pPr>
            <a:r>
              <a:rPr lang="en-US" altLang="en-US" sz="2800" dirty="0">
                <a:latin typeface="Times New Roman" panose="02020603050405020304" pitchFamily="18" charset="0"/>
                <a:cs typeface="Times New Roman" panose="02020603050405020304" pitchFamily="18" charset="0"/>
              </a:rPr>
              <a:t>2.</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Verified data with a few rows.</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3.Connected Power BI to MySQL using </a:t>
            </a:r>
            <a:r>
              <a:rPr kumimoji="0" lang="en-US" altLang="en-US" sz="2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MySQL Connector:</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Open Power BI → Get Data → MySQL database</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Enter server name &amp; database → Import </a:t>
            </a:r>
            <a:r>
              <a:rPr kumimoji="0" lang="en-US" altLang="en-US" sz="2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clean_bookings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view</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Rectangle 6">
            <a:extLst>
              <a:ext uri="{FF2B5EF4-FFF2-40B4-BE49-F238E27FC236}">
                <a16:creationId xmlns:a16="http://schemas.microsoft.com/office/drawing/2014/main" id="{225BACCE-6090-4C1D-A6C3-2C27428CECFA}"/>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7">
            <a:extLst>
              <a:ext uri="{FF2B5EF4-FFF2-40B4-BE49-F238E27FC236}">
                <a16:creationId xmlns:a16="http://schemas.microsoft.com/office/drawing/2014/main" id="{BA106579-28F4-4AD2-93B7-ACDF09F4224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8DE3BEA6-0C99-4310-B858-B74DCE64D5EF}"/>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1B085336-767D-4059-9610-89331D4E4145}"/>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56103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52DA2-1CB0-4761-A4FF-2321AD726296}"/>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a16="http://schemas.microsoft.com/office/drawing/2014/main" id="{DC097E68-B4FD-4F46-BD63-0EB454D61275}"/>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0" y="-113341"/>
            <a:ext cx="12320542" cy="6971341"/>
          </a:xfrm>
          <a:prstGeom prst="rect">
            <a:avLst/>
          </a:prstGeom>
        </p:spPr>
      </p:pic>
      <p:sp>
        <p:nvSpPr>
          <p:cNvPr id="6" name="TextBox 5">
            <a:extLst>
              <a:ext uri="{FF2B5EF4-FFF2-40B4-BE49-F238E27FC236}">
                <a16:creationId xmlns:a16="http://schemas.microsoft.com/office/drawing/2014/main" id="{FACAB28A-6282-4750-92CD-8F10E5A853E0}"/>
              </a:ext>
            </a:extLst>
          </p:cNvPr>
          <p:cNvSpPr txBox="1"/>
          <p:nvPr/>
        </p:nvSpPr>
        <p:spPr>
          <a:xfrm>
            <a:off x="365759" y="859691"/>
            <a:ext cx="11221329" cy="830997"/>
          </a:xfrm>
          <a:prstGeom prst="rect">
            <a:avLst/>
          </a:prstGeom>
          <a:noFill/>
        </p:spPr>
        <p:txBody>
          <a:bodyPr wrap="square" rtlCol="0">
            <a:spAutoFit/>
          </a:bodyPr>
          <a:lstStyle/>
          <a:p>
            <a:r>
              <a:rPr lang="en-IN" sz="4800" b="1" dirty="0">
                <a:latin typeface="Times New Roman" panose="02020603050405020304" pitchFamily="18" charset="0"/>
                <a:cs typeface="Times New Roman" panose="02020603050405020304" pitchFamily="18" charset="0"/>
              </a:rPr>
              <a:t>Power BI Dashboard Overview</a:t>
            </a:r>
          </a:p>
        </p:txBody>
      </p:sp>
      <p:sp>
        <p:nvSpPr>
          <p:cNvPr id="7" name="TextBox 6">
            <a:extLst>
              <a:ext uri="{FF2B5EF4-FFF2-40B4-BE49-F238E27FC236}">
                <a16:creationId xmlns:a16="http://schemas.microsoft.com/office/drawing/2014/main" id="{8776EA47-428A-438B-9519-42E4FA8F4717}"/>
              </a:ext>
            </a:extLst>
          </p:cNvPr>
          <p:cNvSpPr txBox="1"/>
          <p:nvPr/>
        </p:nvSpPr>
        <p:spPr>
          <a:xfrm flipH="1">
            <a:off x="838199" y="1910707"/>
            <a:ext cx="11353799" cy="353943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Purpose:</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Create an interactive dashboard for Travel &amp; Tourism data.</a:t>
            </a:r>
          </a:p>
          <a:p>
            <a:endParaRPr lang="en-IN" sz="2800" dirty="0">
              <a:latin typeface="Times New Roman" panose="02020603050405020304" pitchFamily="18" charset="0"/>
              <a:cs typeface="Times New Roman" panose="02020603050405020304" pitchFamily="18" charset="0"/>
            </a:endParaRPr>
          </a:p>
          <a:p>
            <a:pPr algn="just"/>
            <a:r>
              <a:rPr lang="en-IN" sz="2800" b="1" dirty="0">
                <a:latin typeface="Times New Roman" panose="02020603050405020304" pitchFamily="18" charset="0"/>
                <a:cs typeface="Times New Roman" panose="02020603050405020304" pitchFamily="18" charset="0"/>
              </a:rPr>
              <a:t>What’s Included:</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KPIs (DAX): Total Bookings, Total Revenue, </a:t>
            </a:r>
            <a:r>
              <a:rPr lang="en-IN" sz="2800" dirty="0" err="1">
                <a:latin typeface="Times New Roman" panose="02020603050405020304" pitchFamily="18" charset="0"/>
                <a:cs typeface="Times New Roman" panose="02020603050405020304" pitchFamily="18" charset="0"/>
              </a:rPr>
              <a:t>Avg</a:t>
            </a:r>
            <a:r>
              <a:rPr lang="en-IN" sz="2800" dirty="0">
                <a:latin typeface="Times New Roman" panose="02020603050405020304" pitchFamily="18" charset="0"/>
                <a:cs typeface="Times New Roman" panose="02020603050405020304" pitchFamily="18" charset="0"/>
              </a:rPr>
              <a:t> Revenue per Traveller, Total Travelers</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Charts: Bar, Pie, Line, Map</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Slicers: Year, Destination, Travel Type, Season</a:t>
            </a:r>
          </a:p>
        </p:txBody>
      </p:sp>
      <p:sp>
        <p:nvSpPr>
          <p:cNvPr id="11" name="Rectangle 6">
            <a:extLst>
              <a:ext uri="{FF2B5EF4-FFF2-40B4-BE49-F238E27FC236}">
                <a16:creationId xmlns:a16="http://schemas.microsoft.com/office/drawing/2014/main" id="{225BACCE-6090-4C1D-A6C3-2C27428CECFA}"/>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7">
            <a:extLst>
              <a:ext uri="{FF2B5EF4-FFF2-40B4-BE49-F238E27FC236}">
                <a16:creationId xmlns:a16="http://schemas.microsoft.com/office/drawing/2014/main" id="{BA106579-28F4-4AD2-93B7-ACDF09F4224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8DE3BEA6-0C99-4310-B858-B74DCE64D5EF}"/>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1B085336-767D-4059-9610-89331D4E4145}"/>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44435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52DA2-1CB0-4761-A4FF-2321AD726296}"/>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a16="http://schemas.microsoft.com/office/drawing/2014/main" id="{DC097E68-B4FD-4F46-BD63-0EB454D61275}"/>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0" y="43934"/>
            <a:ext cx="12243582" cy="6814066"/>
          </a:xfrm>
          <a:prstGeom prst="rect">
            <a:avLst/>
          </a:prstGeom>
        </p:spPr>
      </p:pic>
      <p:sp>
        <p:nvSpPr>
          <p:cNvPr id="11" name="Rectangle 6">
            <a:extLst>
              <a:ext uri="{FF2B5EF4-FFF2-40B4-BE49-F238E27FC236}">
                <a16:creationId xmlns:a16="http://schemas.microsoft.com/office/drawing/2014/main" id="{225BACCE-6090-4C1D-A6C3-2C27428CECFA}"/>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7">
            <a:extLst>
              <a:ext uri="{FF2B5EF4-FFF2-40B4-BE49-F238E27FC236}">
                <a16:creationId xmlns:a16="http://schemas.microsoft.com/office/drawing/2014/main" id="{BA106579-28F4-4AD2-93B7-ACDF09F4224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8DE3BEA6-0C99-4310-B858-B74DCE64D5EF}"/>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1B085336-767D-4059-9610-89331D4E4145}"/>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517DC373-BC75-4840-8A58-84AA9148E2E4}"/>
              </a:ext>
            </a:extLst>
          </p:cNvPr>
          <p:cNvPicPr>
            <a:picLocks noChangeAspect="1"/>
          </p:cNvPicPr>
          <p:nvPr/>
        </p:nvPicPr>
        <p:blipFill>
          <a:blip r:embed="rId4"/>
          <a:stretch>
            <a:fillRect/>
          </a:stretch>
        </p:blipFill>
        <p:spPr>
          <a:xfrm>
            <a:off x="0" y="0"/>
            <a:ext cx="12243582" cy="6858000"/>
          </a:xfrm>
          <a:prstGeom prst="rect">
            <a:avLst/>
          </a:prstGeom>
        </p:spPr>
      </p:pic>
    </p:spTree>
    <p:extLst>
      <p:ext uri="{BB962C8B-B14F-4D97-AF65-F5344CB8AC3E}">
        <p14:creationId xmlns:p14="http://schemas.microsoft.com/office/powerpoint/2010/main" val="716773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52DA2-1CB0-4761-A4FF-2321AD726296}"/>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a16="http://schemas.microsoft.com/office/drawing/2014/main" id="{DC097E68-B4FD-4F46-BD63-0EB454D61275}"/>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0" y="-195182"/>
            <a:ext cx="12191997" cy="7053182"/>
          </a:xfrm>
          <a:prstGeom prst="rect">
            <a:avLst/>
          </a:prstGeom>
        </p:spPr>
      </p:pic>
      <p:sp>
        <p:nvSpPr>
          <p:cNvPr id="6" name="TextBox 5">
            <a:extLst>
              <a:ext uri="{FF2B5EF4-FFF2-40B4-BE49-F238E27FC236}">
                <a16:creationId xmlns:a16="http://schemas.microsoft.com/office/drawing/2014/main" id="{FACAB28A-6282-4750-92CD-8F10E5A853E0}"/>
              </a:ext>
            </a:extLst>
          </p:cNvPr>
          <p:cNvSpPr txBox="1"/>
          <p:nvPr/>
        </p:nvSpPr>
        <p:spPr>
          <a:xfrm>
            <a:off x="365759" y="859691"/>
            <a:ext cx="11221329" cy="830997"/>
          </a:xfrm>
          <a:prstGeom prst="rect">
            <a:avLst/>
          </a:prstGeom>
          <a:noFill/>
        </p:spPr>
        <p:txBody>
          <a:bodyPr wrap="square" rtlCol="0">
            <a:spAutoFit/>
          </a:bodyPr>
          <a:lstStyle/>
          <a:p>
            <a:r>
              <a:rPr lang="en-IN" sz="4800" b="1" dirty="0">
                <a:latin typeface="Times New Roman" panose="02020603050405020304" pitchFamily="18" charset="0"/>
                <a:cs typeface="Times New Roman" panose="02020603050405020304" pitchFamily="18" charset="0"/>
              </a:rPr>
              <a:t>Insights &amp; Analysis – Overview</a:t>
            </a:r>
          </a:p>
        </p:txBody>
      </p:sp>
      <p:sp>
        <p:nvSpPr>
          <p:cNvPr id="7" name="TextBox 6">
            <a:extLst>
              <a:ext uri="{FF2B5EF4-FFF2-40B4-BE49-F238E27FC236}">
                <a16:creationId xmlns:a16="http://schemas.microsoft.com/office/drawing/2014/main" id="{8776EA47-428A-438B-9519-42E4FA8F4717}"/>
              </a:ext>
            </a:extLst>
          </p:cNvPr>
          <p:cNvSpPr txBox="1"/>
          <p:nvPr/>
        </p:nvSpPr>
        <p:spPr>
          <a:xfrm flipH="1">
            <a:off x="1069144" y="1910707"/>
            <a:ext cx="11122853" cy="4401205"/>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Dataset Summary:</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Total Bookings: 1,000</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Total Travelers: 2,217 (Average 2.2 travelers per booking → strong group/family travel)</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Total Revenue: 77.06M</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Average Revenue per Traveler: 45.17K</a:t>
            </a:r>
          </a:p>
          <a:p>
            <a:r>
              <a:rPr lang="en-US" sz="2800" b="1" dirty="0">
                <a:latin typeface="Times New Roman" panose="02020603050405020304" pitchFamily="18" charset="0"/>
                <a:cs typeface="Times New Roman" panose="02020603050405020304" pitchFamily="18" charset="0"/>
              </a:rPr>
              <a:t>Booking &amp; Revenue Trends:</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Higher booking volumes in earlier periods → sharp decline later</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Revenue follows same trend → decline is demand-driven, not pricing-related</a:t>
            </a:r>
          </a:p>
        </p:txBody>
      </p:sp>
      <p:sp>
        <p:nvSpPr>
          <p:cNvPr id="11" name="Rectangle 6">
            <a:extLst>
              <a:ext uri="{FF2B5EF4-FFF2-40B4-BE49-F238E27FC236}">
                <a16:creationId xmlns:a16="http://schemas.microsoft.com/office/drawing/2014/main" id="{225BACCE-6090-4C1D-A6C3-2C27428CECFA}"/>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7">
            <a:extLst>
              <a:ext uri="{FF2B5EF4-FFF2-40B4-BE49-F238E27FC236}">
                <a16:creationId xmlns:a16="http://schemas.microsoft.com/office/drawing/2014/main" id="{BA106579-28F4-4AD2-93B7-ACDF09F4224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8DE3BEA6-0C99-4310-B858-B74DCE64D5EF}"/>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1B085336-767D-4059-9610-89331D4E4145}"/>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416646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52DA2-1CB0-4761-A4FF-2321AD726296}"/>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a16="http://schemas.microsoft.com/office/drawing/2014/main" id="{DC097E68-B4FD-4F46-BD63-0EB454D61275}"/>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0" y="-184666"/>
            <a:ext cx="12191995" cy="7042666"/>
          </a:xfrm>
          <a:prstGeom prst="rect">
            <a:avLst/>
          </a:prstGeom>
        </p:spPr>
      </p:pic>
      <p:sp>
        <p:nvSpPr>
          <p:cNvPr id="6" name="TextBox 5">
            <a:extLst>
              <a:ext uri="{FF2B5EF4-FFF2-40B4-BE49-F238E27FC236}">
                <a16:creationId xmlns:a16="http://schemas.microsoft.com/office/drawing/2014/main" id="{FACAB28A-6282-4750-92CD-8F10E5A853E0}"/>
              </a:ext>
            </a:extLst>
          </p:cNvPr>
          <p:cNvSpPr txBox="1"/>
          <p:nvPr/>
        </p:nvSpPr>
        <p:spPr>
          <a:xfrm>
            <a:off x="365759" y="859691"/>
            <a:ext cx="11221329" cy="830997"/>
          </a:xfrm>
          <a:prstGeom prst="rect">
            <a:avLst/>
          </a:prstGeom>
          <a:noFill/>
        </p:spPr>
        <p:txBody>
          <a:bodyPr wrap="square" rtlCol="0">
            <a:spAutoFit/>
          </a:bodyPr>
          <a:lstStyle/>
          <a:p>
            <a:r>
              <a:rPr lang="en-IN" sz="4800" b="1" dirty="0">
                <a:latin typeface="Times New Roman" panose="02020603050405020304" pitchFamily="18" charset="0"/>
                <a:cs typeface="Times New Roman" panose="02020603050405020304" pitchFamily="18" charset="0"/>
              </a:rPr>
              <a:t>Insights – Travel Type &amp; Destination</a:t>
            </a:r>
          </a:p>
        </p:txBody>
      </p:sp>
      <p:sp>
        <p:nvSpPr>
          <p:cNvPr id="7" name="TextBox 6">
            <a:extLst>
              <a:ext uri="{FF2B5EF4-FFF2-40B4-BE49-F238E27FC236}">
                <a16:creationId xmlns:a16="http://schemas.microsoft.com/office/drawing/2014/main" id="{8776EA47-428A-438B-9519-42E4FA8F4717}"/>
              </a:ext>
            </a:extLst>
          </p:cNvPr>
          <p:cNvSpPr txBox="1"/>
          <p:nvPr/>
        </p:nvSpPr>
        <p:spPr>
          <a:xfrm flipH="1">
            <a:off x="1336430" y="1910707"/>
            <a:ext cx="10855565" cy="3108543"/>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Travel Type Performance:</a:t>
            </a:r>
            <a:endParaRPr lang="en-IN"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Leisure travel → highest revenue</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Family travel → second</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Business travel → lowest</a:t>
            </a:r>
          </a:p>
          <a:p>
            <a:r>
              <a:rPr lang="en-IN" sz="2800" b="1" dirty="0">
                <a:latin typeface="Times New Roman" panose="02020603050405020304" pitchFamily="18" charset="0"/>
                <a:cs typeface="Times New Roman" panose="02020603050405020304" pitchFamily="18" charset="0"/>
              </a:rPr>
              <a:t>Destination-wise Revenue:</a:t>
            </a:r>
            <a:endParaRPr lang="en-IN"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Top 3 revenue-generating destinations: </a:t>
            </a:r>
            <a:r>
              <a:rPr lang="en-IN" sz="2800" b="1" dirty="0">
                <a:latin typeface="Times New Roman" panose="02020603050405020304" pitchFamily="18" charset="0"/>
                <a:cs typeface="Times New Roman" panose="02020603050405020304" pitchFamily="18" charset="0"/>
              </a:rPr>
              <a:t>Japan &gt; India &gt; Singapore</a:t>
            </a:r>
            <a:endParaRPr lang="en-IN"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Other destinations (Vietnam, UAE) contribute less</a:t>
            </a:r>
          </a:p>
        </p:txBody>
      </p:sp>
      <p:sp>
        <p:nvSpPr>
          <p:cNvPr id="11" name="Rectangle 6">
            <a:extLst>
              <a:ext uri="{FF2B5EF4-FFF2-40B4-BE49-F238E27FC236}">
                <a16:creationId xmlns:a16="http://schemas.microsoft.com/office/drawing/2014/main" id="{225BACCE-6090-4C1D-A6C3-2C27428CECFA}"/>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7">
            <a:extLst>
              <a:ext uri="{FF2B5EF4-FFF2-40B4-BE49-F238E27FC236}">
                <a16:creationId xmlns:a16="http://schemas.microsoft.com/office/drawing/2014/main" id="{BA106579-28F4-4AD2-93B7-ACDF09F4224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8DE3BEA6-0C99-4310-B858-B74DCE64D5EF}"/>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1B085336-767D-4059-9610-89331D4E4145}"/>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05120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52DA2-1CB0-4761-A4FF-2321AD726296}"/>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a16="http://schemas.microsoft.com/office/drawing/2014/main" id="{DC097E68-B4FD-4F46-BD63-0EB454D61275}"/>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0" y="-239116"/>
            <a:ext cx="12320542" cy="7053182"/>
          </a:xfrm>
          <a:prstGeom prst="rect">
            <a:avLst/>
          </a:prstGeom>
        </p:spPr>
      </p:pic>
      <p:sp>
        <p:nvSpPr>
          <p:cNvPr id="6" name="TextBox 5">
            <a:extLst>
              <a:ext uri="{FF2B5EF4-FFF2-40B4-BE49-F238E27FC236}">
                <a16:creationId xmlns:a16="http://schemas.microsoft.com/office/drawing/2014/main" id="{FACAB28A-6282-4750-92CD-8F10E5A853E0}"/>
              </a:ext>
            </a:extLst>
          </p:cNvPr>
          <p:cNvSpPr txBox="1"/>
          <p:nvPr/>
        </p:nvSpPr>
        <p:spPr>
          <a:xfrm>
            <a:off x="365759" y="859691"/>
            <a:ext cx="11221329" cy="830997"/>
          </a:xfrm>
          <a:prstGeom prst="rect">
            <a:avLst/>
          </a:prstGeom>
          <a:noFill/>
        </p:spPr>
        <p:txBody>
          <a:bodyPr wrap="square" rtlCol="0">
            <a:spAutoFit/>
          </a:bodyPr>
          <a:lstStyle/>
          <a:p>
            <a:r>
              <a:rPr lang="en-IN" sz="4800" b="1" dirty="0">
                <a:latin typeface="Times New Roman" panose="02020603050405020304" pitchFamily="18" charset="0"/>
                <a:cs typeface="Times New Roman" panose="02020603050405020304" pitchFamily="18" charset="0"/>
              </a:rPr>
              <a:t>Insights – Seasonal &amp; Booking channel</a:t>
            </a:r>
          </a:p>
        </p:txBody>
      </p:sp>
      <p:sp>
        <p:nvSpPr>
          <p:cNvPr id="7" name="TextBox 6">
            <a:extLst>
              <a:ext uri="{FF2B5EF4-FFF2-40B4-BE49-F238E27FC236}">
                <a16:creationId xmlns:a16="http://schemas.microsoft.com/office/drawing/2014/main" id="{8776EA47-428A-438B-9519-42E4FA8F4717}"/>
              </a:ext>
            </a:extLst>
          </p:cNvPr>
          <p:cNvSpPr txBox="1"/>
          <p:nvPr/>
        </p:nvSpPr>
        <p:spPr>
          <a:xfrm flipH="1">
            <a:off x="1336430" y="1910707"/>
            <a:ext cx="10855565" cy="3108543"/>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Seasonal Patterns:</a:t>
            </a:r>
            <a:endParaRPr lang="en-IN"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Summer → highest revenue</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Winter → second</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Monsoon → lowest</a:t>
            </a:r>
          </a:p>
          <a:p>
            <a:r>
              <a:rPr lang="en-IN" sz="2800" b="1" dirty="0">
                <a:latin typeface="Times New Roman" panose="02020603050405020304" pitchFamily="18" charset="0"/>
                <a:cs typeface="Times New Roman" panose="02020603050405020304" pitchFamily="18" charset="0"/>
              </a:rPr>
              <a:t>Booking Channels:</a:t>
            </a:r>
            <a:endParaRPr lang="en-IN"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Online platforms (App &amp; Website) outperform offline</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Indicates growing digital adoption</a:t>
            </a:r>
          </a:p>
        </p:txBody>
      </p:sp>
      <p:sp>
        <p:nvSpPr>
          <p:cNvPr id="11" name="Rectangle 6">
            <a:extLst>
              <a:ext uri="{FF2B5EF4-FFF2-40B4-BE49-F238E27FC236}">
                <a16:creationId xmlns:a16="http://schemas.microsoft.com/office/drawing/2014/main" id="{225BACCE-6090-4C1D-A6C3-2C27428CECFA}"/>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7">
            <a:extLst>
              <a:ext uri="{FF2B5EF4-FFF2-40B4-BE49-F238E27FC236}">
                <a16:creationId xmlns:a16="http://schemas.microsoft.com/office/drawing/2014/main" id="{BA106579-28F4-4AD2-93B7-ACDF09F4224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8DE3BEA6-0C99-4310-B858-B74DCE64D5EF}"/>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1B085336-767D-4059-9610-89331D4E4145}"/>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527059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52DA2-1CB0-4761-A4FF-2321AD726296}"/>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a16="http://schemas.microsoft.com/office/drawing/2014/main" id="{DC097E68-B4FD-4F46-BD63-0EB454D61275}"/>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0" y="-239116"/>
            <a:ext cx="12320542" cy="7053182"/>
          </a:xfrm>
          <a:prstGeom prst="rect">
            <a:avLst/>
          </a:prstGeom>
        </p:spPr>
      </p:pic>
      <p:sp>
        <p:nvSpPr>
          <p:cNvPr id="6" name="TextBox 5">
            <a:extLst>
              <a:ext uri="{FF2B5EF4-FFF2-40B4-BE49-F238E27FC236}">
                <a16:creationId xmlns:a16="http://schemas.microsoft.com/office/drawing/2014/main" id="{FACAB28A-6282-4750-92CD-8F10E5A853E0}"/>
              </a:ext>
            </a:extLst>
          </p:cNvPr>
          <p:cNvSpPr txBox="1"/>
          <p:nvPr/>
        </p:nvSpPr>
        <p:spPr>
          <a:xfrm>
            <a:off x="365759" y="859691"/>
            <a:ext cx="11221329" cy="830997"/>
          </a:xfrm>
          <a:prstGeom prst="rect">
            <a:avLst/>
          </a:prstGeom>
          <a:noFill/>
        </p:spPr>
        <p:txBody>
          <a:bodyPr wrap="square" rtlCol="0">
            <a:spAutoFit/>
          </a:bodyPr>
          <a:lstStyle/>
          <a:p>
            <a:r>
              <a:rPr lang="en-IN" sz="4800" b="1" dirty="0">
                <a:latin typeface="Times New Roman" panose="02020603050405020304" pitchFamily="18" charset="0"/>
                <a:cs typeface="Times New Roman" panose="02020603050405020304" pitchFamily="18" charset="0"/>
              </a:rPr>
              <a:t>Recommendations</a:t>
            </a:r>
          </a:p>
        </p:txBody>
      </p:sp>
      <p:sp>
        <p:nvSpPr>
          <p:cNvPr id="7" name="TextBox 6">
            <a:extLst>
              <a:ext uri="{FF2B5EF4-FFF2-40B4-BE49-F238E27FC236}">
                <a16:creationId xmlns:a16="http://schemas.microsoft.com/office/drawing/2014/main" id="{8776EA47-428A-438B-9519-42E4FA8F4717}"/>
              </a:ext>
            </a:extLst>
          </p:cNvPr>
          <p:cNvSpPr txBox="1"/>
          <p:nvPr/>
        </p:nvSpPr>
        <p:spPr>
          <a:xfrm flipH="1">
            <a:off x="1223883" y="1836331"/>
            <a:ext cx="11221330" cy="483209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1.Strengthen Digital Channels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Improve app &amp; website UX to boost conversions</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2.Focus on High-Revenue Destinations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Prioritize marketing for Japan, India, Singapore</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3.Address Booking Decline Trends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Seasonal campaigns, early-bird offers, promotions</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4.Promote Group &amp; Family Packages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Encourage trips with 2+ travelers</a:t>
            </a:r>
          </a:p>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5.Improve Off-Season Performance</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Special discounts, flexible policies, bundled offers for monsoon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Rectangle 6">
            <a:extLst>
              <a:ext uri="{FF2B5EF4-FFF2-40B4-BE49-F238E27FC236}">
                <a16:creationId xmlns:a16="http://schemas.microsoft.com/office/drawing/2014/main" id="{225BACCE-6090-4C1D-A6C3-2C27428CECFA}"/>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7">
            <a:extLst>
              <a:ext uri="{FF2B5EF4-FFF2-40B4-BE49-F238E27FC236}">
                <a16:creationId xmlns:a16="http://schemas.microsoft.com/office/drawing/2014/main" id="{BA106579-28F4-4AD2-93B7-ACDF09F4224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8DE3BEA6-0C99-4310-B858-B74DCE64D5EF}"/>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1B085336-767D-4059-9610-89331D4E4145}"/>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577ECBB5-B6D6-46F3-B224-A1CBFCED2B87}"/>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199406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52DA2-1CB0-4761-A4FF-2321AD726296}"/>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a16="http://schemas.microsoft.com/office/drawing/2014/main" id="{DC097E68-B4FD-4F46-BD63-0EB454D61275}"/>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0" y="-239116"/>
            <a:ext cx="12320542" cy="7053182"/>
          </a:xfrm>
          <a:prstGeom prst="rect">
            <a:avLst/>
          </a:prstGeom>
        </p:spPr>
      </p:pic>
      <p:sp>
        <p:nvSpPr>
          <p:cNvPr id="6" name="TextBox 5">
            <a:extLst>
              <a:ext uri="{FF2B5EF4-FFF2-40B4-BE49-F238E27FC236}">
                <a16:creationId xmlns:a16="http://schemas.microsoft.com/office/drawing/2014/main" id="{FACAB28A-6282-4750-92CD-8F10E5A853E0}"/>
              </a:ext>
            </a:extLst>
          </p:cNvPr>
          <p:cNvSpPr txBox="1"/>
          <p:nvPr/>
        </p:nvSpPr>
        <p:spPr>
          <a:xfrm>
            <a:off x="365759" y="859691"/>
            <a:ext cx="11221329" cy="830997"/>
          </a:xfrm>
          <a:prstGeom prst="rect">
            <a:avLst/>
          </a:prstGeom>
          <a:noFill/>
        </p:spPr>
        <p:txBody>
          <a:bodyPr wrap="square" rtlCol="0">
            <a:spAutoFit/>
          </a:bodyPr>
          <a:lstStyle/>
          <a:p>
            <a:r>
              <a:rPr lang="en-IN" sz="4800" b="1" dirty="0">
                <a:latin typeface="Times New Roman" panose="02020603050405020304" pitchFamily="18" charset="0"/>
                <a:cs typeface="Times New Roman" panose="02020603050405020304" pitchFamily="18" charset="0"/>
              </a:rPr>
              <a:t>Conclusion</a:t>
            </a:r>
          </a:p>
        </p:txBody>
      </p:sp>
      <p:sp>
        <p:nvSpPr>
          <p:cNvPr id="7" name="TextBox 6">
            <a:extLst>
              <a:ext uri="{FF2B5EF4-FFF2-40B4-BE49-F238E27FC236}">
                <a16:creationId xmlns:a16="http://schemas.microsoft.com/office/drawing/2014/main" id="{8776EA47-428A-438B-9519-42E4FA8F4717}"/>
              </a:ext>
            </a:extLst>
          </p:cNvPr>
          <p:cNvSpPr txBox="1"/>
          <p:nvPr/>
        </p:nvSpPr>
        <p:spPr>
          <a:xfrm flipH="1">
            <a:off x="838199" y="1836331"/>
            <a:ext cx="11077136" cy="4401205"/>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project presents a structured end-to-end analytics framework using Excel, MySQL, and Power BI to analyze Travel &amp; Tourism booking data. Systematic data cleaning, SQL-based transformations, and DAX-driven KPIs enabled accurate measurement of booking patterns, revenue performance, and customer behavior.</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analysis identifies travel type, destination preference, seasonality, and booking channels as the primary drivers of demand and revenue. Overall, the project demonstrates how integrated data analytics tools can support evidence-based decision-making and strategic planning in the travel and tourism industry.</a:t>
            </a:r>
          </a:p>
        </p:txBody>
      </p:sp>
      <p:sp>
        <p:nvSpPr>
          <p:cNvPr id="11" name="Rectangle 6">
            <a:extLst>
              <a:ext uri="{FF2B5EF4-FFF2-40B4-BE49-F238E27FC236}">
                <a16:creationId xmlns:a16="http://schemas.microsoft.com/office/drawing/2014/main" id="{225BACCE-6090-4C1D-A6C3-2C27428CECFA}"/>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7">
            <a:extLst>
              <a:ext uri="{FF2B5EF4-FFF2-40B4-BE49-F238E27FC236}">
                <a16:creationId xmlns:a16="http://schemas.microsoft.com/office/drawing/2014/main" id="{BA106579-28F4-4AD2-93B7-ACDF09F4224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8DE3BEA6-0C99-4310-B858-B74DCE64D5EF}"/>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1B085336-767D-4059-9610-89331D4E4145}"/>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577ECBB5-B6D6-46F3-B224-A1CBFCED2B87}"/>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182369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52DA2-1CB0-4761-A4FF-2321AD726296}"/>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a16="http://schemas.microsoft.com/office/drawing/2014/main" id="{DC097E68-B4FD-4F46-BD63-0EB454D61275}"/>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0" y="-239116"/>
            <a:ext cx="12192000" cy="7097116"/>
          </a:xfrm>
          <a:prstGeom prst="rect">
            <a:avLst/>
          </a:prstGeom>
        </p:spPr>
      </p:pic>
      <p:sp>
        <p:nvSpPr>
          <p:cNvPr id="6" name="TextBox 5">
            <a:extLst>
              <a:ext uri="{FF2B5EF4-FFF2-40B4-BE49-F238E27FC236}">
                <a16:creationId xmlns:a16="http://schemas.microsoft.com/office/drawing/2014/main" id="{FACAB28A-6282-4750-92CD-8F10E5A853E0}"/>
              </a:ext>
            </a:extLst>
          </p:cNvPr>
          <p:cNvSpPr txBox="1"/>
          <p:nvPr/>
        </p:nvSpPr>
        <p:spPr>
          <a:xfrm>
            <a:off x="3066758" y="2625755"/>
            <a:ext cx="11305734" cy="1323439"/>
          </a:xfrm>
          <a:prstGeom prst="rect">
            <a:avLst/>
          </a:prstGeom>
          <a:noFill/>
        </p:spPr>
        <p:txBody>
          <a:bodyPr wrap="square" rtlCol="0">
            <a:spAutoFit/>
          </a:bodyPr>
          <a:lstStyle/>
          <a:p>
            <a:r>
              <a:rPr lang="en-IN" sz="8000" b="1" dirty="0">
                <a:latin typeface="Algerian" panose="04020705040A02060702" pitchFamily="82" charset="0"/>
                <a:cs typeface="Times New Roman" panose="02020603050405020304" pitchFamily="18" charset="0"/>
              </a:rPr>
              <a:t>THANK YOU…</a:t>
            </a:r>
          </a:p>
        </p:txBody>
      </p:sp>
      <p:sp>
        <p:nvSpPr>
          <p:cNvPr id="11" name="Rectangle 6">
            <a:extLst>
              <a:ext uri="{FF2B5EF4-FFF2-40B4-BE49-F238E27FC236}">
                <a16:creationId xmlns:a16="http://schemas.microsoft.com/office/drawing/2014/main" id="{225BACCE-6090-4C1D-A6C3-2C27428CECFA}"/>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7">
            <a:extLst>
              <a:ext uri="{FF2B5EF4-FFF2-40B4-BE49-F238E27FC236}">
                <a16:creationId xmlns:a16="http://schemas.microsoft.com/office/drawing/2014/main" id="{BA106579-28F4-4AD2-93B7-ACDF09F4224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8DE3BEA6-0C99-4310-B858-B74DCE64D5EF}"/>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1B085336-767D-4059-9610-89331D4E4145}"/>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1">
            <a:extLst>
              <a:ext uri="{FF2B5EF4-FFF2-40B4-BE49-F238E27FC236}">
                <a16:creationId xmlns:a16="http://schemas.microsoft.com/office/drawing/2014/main" id="{577ECBB5-B6D6-46F3-B224-A1CBFCED2B87}"/>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004785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303</TotalTime>
  <Words>875</Words>
  <Application>Microsoft Office PowerPoint</Application>
  <PresentationFormat>Widescreen</PresentationFormat>
  <Paragraphs>119</Paragraphs>
  <Slides>21</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Links</vt:lpstr>
      </vt:variant>
      <vt:variant>
        <vt:i4>2</vt:i4>
      </vt:variant>
      <vt:variant>
        <vt:lpstr>Slide Titles</vt:lpstr>
      </vt:variant>
      <vt:variant>
        <vt:i4>21</vt:i4>
      </vt:variant>
    </vt:vector>
  </HeadingPairs>
  <TitlesOfParts>
    <vt:vector size="30" baseType="lpstr">
      <vt:lpstr>Algerian</vt:lpstr>
      <vt:lpstr>Arial</vt:lpstr>
      <vt:lpstr>Calibri</vt:lpstr>
      <vt:lpstr>Calibri Light</vt:lpstr>
      <vt:lpstr>Symbol</vt:lpstr>
      <vt:lpstr>Times New Roman</vt:lpstr>
      <vt:lpstr>Office Theme</vt:lpstr>
      <vt:lpstr>D:\Desktop\KGiSL Intern\Travel &amp; Tourism dataset CLEANED.xlsx</vt:lpstr>
      <vt:lpstr>D:\Desktop\KGiSL Intern\Travel &amp; Tourism dataset.xlsx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 Moshina</dc:creator>
  <cp:lastModifiedBy>J Moshina</cp:lastModifiedBy>
  <cp:revision>16</cp:revision>
  <dcterms:created xsi:type="dcterms:W3CDTF">2026-02-08T10:18:56Z</dcterms:created>
  <dcterms:modified xsi:type="dcterms:W3CDTF">2026-02-11T11:21:10Z</dcterms:modified>
</cp:coreProperties>
</file>